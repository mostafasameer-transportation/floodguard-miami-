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8" r:id="rId3"/>
    <p:sldId id="259" r:id="rId4"/>
    <p:sldId id="261" r:id="rId5"/>
    <p:sldId id="260" r:id="rId6"/>
    <p:sldId id="262" r:id="rId7"/>
    <p:sldId id="263" r:id="rId8"/>
    <p:sldId id="264" r:id="rId9"/>
    <p:sldId id="271" r:id="rId10"/>
    <p:sldId id="272" r:id="rId11"/>
    <p:sldId id="273" r:id="rId12"/>
    <p:sldId id="274" r:id="rId13"/>
    <p:sldId id="275" r:id="rId14"/>
    <p:sldId id="276" r:id="rId15"/>
    <p:sldId id="280" r:id="rId16"/>
    <p:sldId id="278" r:id="rId17"/>
    <p:sldId id="279"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iLH/Ygl4eVp+HsMMlUYe25DrGm1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EF1606-EB17-4EA5-863D-B3FC144E2612}">
  <a:tblStyle styleId="{07EF1606-EB17-4EA5-863D-B3FC144E261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0DE4F863-79B4-44E2-8618-F31045362F7C}" styleName="Table_1">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81240" lvl="0" indent="-105040" algn="l" rtl="0">
              <a:spcBef>
                <a:spcPts val="0"/>
              </a:spcBef>
              <a:spcAft>
                <a:spcPts val="0"/>
              </a:spcAft>
              <a:buClr>
                <a:schemeClr val="dk1"/>
              </a:buClr>
              <a:buSzPts val="1200"/>
              <a:buFont typeface="Arial"/>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9" name="Google Shape;60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3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3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3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4"/>
          <p:cNvSpPr>
            <a:spLocks noGrp="1"/>
          </p:cNvSpPr>
          <p:nvPr>
            <p:ph type="pic" idx="2"/>
          </p:nvPr>
        </p:nvSpPr>
        <p:spPr>
          <a:xfrm>
            <a:off x="5183188" y="987425"/>
            <a:ext cx="6172200" cy="4873625"/>
          </a:xfrm>
          <a:prstGeom prst="rect">
            <a:avLst/>
          </a:prstGeom>
          <a:noFill/>
          <a:ln>
            <a:noFill/>
          </a:ln>
        </p:spPr>
      </p:sp>
      <p:sp>
        <p:nvSpPr>
          <p:cNvPr id="68" name="Google Shape;68;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ites.google.com/site/mostafasameeraustprofile/topics-of-interests-research-base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s://eei.fiu.edu/" TargetMode="External"/><Relationship Id="rId3" Type="http://schemas.openxmlformats.org/officeDocument/2006/relationships/image" Target="../media/image3.png"/><Relationship Id="rId7" Type="http://schemas.openxmlformats.org/officeDocument/2006/relationships/hyperlink" Target="https://resilient305.co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waterdata.usgs.gov/nwis" TargetMode="External"/><Relationship Id="rId5" Type="http://schemas.openxmlformats.org/officeDocument/2006/relationships/hyperlink" Target="https://www.miamigov.com/ClimateReady" TargetMode="External"/><Relationship Id="rId4" Type="http://schemas.openxmlformats.org/officeDocument/2006/relationships/hyperlink" Target="https://www.weather.gov/safety/flood" TargetMode="External"/><Relationship Id="rId9"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cxnSp>
        <p:nvCxnSpPr>
          <p:cNvPr id="89" name="Google Shape;89;p1"/>
          <p:cNvCxnSpPr/>
          <p:nvPr/>
        </p:nvCxnSpPr>
        <p:spPr>
          <a:xfrm>
            <a:off x="-1" y="6830621"/>
            <a:ext cx="12192000" cy="0"/>
          </a:xfrm>
          <a:prstGeom prst="straightConnector1">
            <a:avLst/>
          </a:prstGeom>
          <a:noFill/>
          <a:ln w="76200" cap="flat" cmpd="sng">
            <a:solidFill>
              <a:srgbClr val="180755"/>
            </a:solidFill>
            <a:prstDash val="solid"/>
            <a:miter lim="800000"/>
            <a:headEnd type="none" w="sm" len="sm"/>
            <a:tailEnd type="none" w="sm" len="sm"/>
          </a:ln>
        </p:spPr>
      </p:cxnSp>
      <p:sp>
        <p:nvSpPr>
          <p:cNvPr id="92" name="Google Shape;92;p1"/>
          <p:cNvSpPr txBox="1"/>
          <p:nvPr/>
        </p:nvSpPr>
        <p:spPr>
          <a:xfrm>
            <a:off x="7372998" y="962398"/>
            <a:ext cx="4553113" cy="1732774"/>
          </a:xfrm>
          <a:prstGeom prst="rect">
            <a:avLst/>
          </a:prstGeom>
          <a:noFill/>
          <a:ln>
            <a:noFill/>
          </a:ln>
        </p:spPr>
        <p:txBody>
          <a:bodyPr spcFirstLastPara="1" wrap="square" lIns="45700" tIns="45700" rIns="45700" bIns="45700" anchor="t" anchorCtr="0">
            <a:noAutofit/>
          </a:bodyPr>
          <a:lstStyle/>
          <a:p>
            <a:pPr algn="ctr"/>
            <a:r>
              <a:rPr lang="en-US" sz="1600" b="1" dirty="0">
                <a:latin typeface="Times New Roman" panose="02020603050405020304" pitchFamily="18" charset="0"/>
                <a:cs typeface="Times New Roman" panose="02020603050405020304" pitchFamily="18" charset="0"/>
              </a:rPr>
              <a:t>👤 About the Founder</a:t>
            </a:r>
          </a:p>
          <a:p>
            <a:pPr algn="ctr"/>
            <a:r>
              <a:rPr lang="en-US" sz="1600" b="1" dirty="0">
                <a:latin typeface="Times New Roman" panose="02020603050405020304" pitchFamily="18" charset="0"/>
                <a:cs typeface="Times New Roman" panose="02020603050405020304" pitchFamily="18" charset="0"/>
              </a:rPr>
              <a:t>Mostafa Sameer</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Graduate Research Assistant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Department of Civil and Environmental Engineering</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Florida International University (FIU)</a:t>
            </a:r>
          </a:p>
          <a:p>
            <a:pPr algn="ctr"/>
            <a:r>
              <a:rPr lang="en-US" sz="1600" b="1" dirty="0">
                <a:latin typeface="Times New Roman" panose="02020603050405020304" pitchFamily="18" charset="0"/>
                <a:cs typeface="Times New Roman" panose="02020603050405020304" pitchFamily="18" charset="0"/>
                <a:hlinkClick r:id="rId3"/>
              </a:rPr>
              <a:t>https://sites.google.com/site/mostafasameeraustprofile/topics-of-interests-research-based</a:t>
            </a:r>
            <a:r>
              <a:rPr lang="en-US" sz="1600" b="1" dirty="0">
                <a:latin typeface="Times New Roman" panose="02020603050405020304" pitchFamily="18" charset="0"/>
                <a:cs typeface="Times New Roman" panose="02020603050405020304" pitchFamily="18" charset="0"/>
              </a:rPr>
              <a:t> </a:t>
            </a:r>
          </a:p>
          <a:p>
            <a:pPr algn="ctr"/>
            <a:endParaRPr lang="en-US" sz="1600" b="1" dirty="0">
              <a:latin typeface="Times New Roman" panose="02020603050405020304" pitchFamily="18" charset="0"/>
              <a:cs typeface="Times New Roman" panose="02020603050405020304" pitchFamily="18" charset="0"/>
            </a:endParaRPr>
          </a:p>
          <a:p>
            <a:pPr algn="ctr"/>
            <a:endParaRPr lang="en-US" sz="1600" b="1" dirty="0">
              <a:latin typeface="Times New Roman" panose="02020603050405020304" pitchFamily="18" charset="0"/>
              <a:cs typeface="Times New Roman" panose="02020603050405020304" pitchFamily="18" charset="0"/>
            </a:endParaRPr>
          </a:p>
          <a:p>
            <a:pPr algn="ct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Mostafa is a civil engineer and researcher specializing in flood risk mitigation, natural hazards, and resilient infrastructure. At FIU, he works on innovative approaches to urban resilience and community-based adaptation strategies for coastal cities like Miami.</a:t>
            </a:r>
          </a:p>
          <a:p>
            <a:pPr algn="just"/>
            <a:r>
              <a:rPr lang="en-US" sz="1600" dirty="0">
                <a:latin typeface="Times New Roman" panose="02020603050405020304" pitchFamily="18" charset="0"/>
                <a:cs typeface="Times New Roman" panose="02020603050405020304" pitchFamily="18" charset="0"/>
              </a:rPr>
              <a:t>He founded </a:t>
            </a:r>
            <a:r>
              <a:rPr lang="en-US" sz="1600" b="1" dirty="0" err="1">
                <a:latin typeface="Times New Roman" panose="02020603050405020304" pitchFamily="18" charset="0"/>
                <a:cs typeface="Times New Roman" panose="02020603050405020304" pitchFamily="18" charset="0"/>
              </a:rPr>
              <a:t>FloodGuard</a:t>
            </a:r>
            <a:r>
              <a:rPr lang="en-US" sz="1600" b="1" dirty="0">
                <a:latin typeface="Times New Roman" panose="02020603050405020304" pitchFamily="18" charset="0"/>
                <a:cs typeface="Times New Roman" panose="02020603050405020304" pitchFamily="18" charset="0"/>
              </a:rPr>
              <a:t> Miami</a:t>
            </a:r>
            <a:r>
              <a:rPr lang="en-US" sz="1600" dirty="0">
                <a:latin typeface="Times New Roman" panose="02020603050405020304" pitchFamily="18" charset="0"/>
                <a:cs typeface="Times New Roman" panose="02020603050405020304" pitchFamily="18" charset="0"/>
              </a:rPr>
              <a:t> to bridge the gap between scientific data and real-world preparedness — empowering residents and city planners to predict, prepare for, and prevent flood damage through data-driven solutions.</a:t>
            </a:r>
          </a:p>
          <a:p>
            <a:pPr algn="ctr"/>
            <a:endParaRPr lang="en-US" sz="16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8927F06-48D0-48B7-F05A-198200C6029E}"/>
              </a:ext>
            </a:extLst>
          </p:cNvPr>
          <p:cNvPicPr>
            <a:picLocks noChangeAspect="1"/>
          </p:cNvPicPr>
          <p:nvPr/>
        </p:nvPicPr>
        <p:blipFill>
          <a:blip r:embed="rId4"/>
          <a:stretch>
            <a:fillRect/>
          </a:stretch>
        </p:blipFill>
        <p:spPr>
          <a:xfrm>
            <a:off x="119519" y="314273"/>
            <a:ext cx="7117859" cy="4353236"/>
          </a:xfrm>
          <a:prstGeom prst="rect">
            <a:avLst/>
          </a:prstGeom>
        </p:spPr>
      </p:pic>
      <p:pic>
        <p:nvPicPr>
          <p:cNvPr id="4" name="Picture 3" descr="A logo with a wave and a graphic design&#10;&#10;AI-generated content may be incorrect.">
            <a:extLst>
              <a:ext uri="{FF2B5EF4-FFF2-40B4-BE49-F238E27FC236}">
                <a16:creationId xmlns:a16="http://schemas.microsoft.com/office/drawing/2014/main" id="{C2B68FEC-A11D-1FD5-82EF-0682A8F71813}"/>
              </a:ext>
            </a:extLst>
          </p:cNvPr>
          <p:cNvPicPr>
            <a:picLocks noChangeAspect="1"/>
          </p:cNvPicPr>
          <p:nvPr/>
        </p:nvPicPr>
        <p:blipFill>
          <a:blip r:embed="rId5"/>
          <a:stretch>
            <a:fillRect/>
          </a:stretch>
        </p:blipFill>
        <p:spPr>
          <a:xfrm>
            <a:off x="119519" y="4077707"/>
            <a:ext cx="5786314" cy="26513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3"/>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cxnSp>
        <p:nvCxnSpPr>
          <p:cNvPr id="134" name="Google Shape;134;p3"/>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135" name="Google Shape;135;p3"/>
          <p:cNvSpPr txBox="1"/>
          <p:nvPr/>
        </p:nvSpPr>
        <p:spPr>
          <a:xfrm>
            <a:off x="62871" y="1276559"/>
            <a:ext cx="11776364" cy="4154943"/>
          </a:xfrm>
          <a:prstGeom prst="rect">
            <a:avLst/>
          </a:prstGeom>
          <a:noFill/>
          <a:ln>
            <a:noFill/>
          </a:ln>
        </p:spPr>
        <p:txBody>
          <a:bodyPr spcFirstLastPara="1" wrap="square" lIns="91425" tIns="45700" rIns="91425" bIns="45700" anchor="t" anchorCtr="0">
            <a:spAutoFit/>
          </a:bodyPr>
          <a:lstStyle/>
          <a:p>
            <a:pPr lvl="0" algn="ctr">
              <a:buClr>
                <a:schemeClr val="dk1"/>
              </a:buClr>
              <a:buSzPts val="2400"/>
            </a:pPr>
            <a:endParaRPr lang="en-US" sz="3200" b="1" dirty="0">
              <a:latin typeface="Times New Roman" panose="02020603050405020304" pitchFamily="18" charset="0"/>
              <a:cs typeface="Times New Roman" panose="02020603050405020304" pitchFamily="18" charset="0"/>
            </a:endParaRPr>
          </a:p>
          <a:p>
            <a:pPr lvl="0" algn="ctr">
              <a:buClr>
                <a:schemeClr val="dk1"/>
              </a:buClr>
              <a:buSzPts val="2400"/>
            </a:pPr>
            <a:endParaRPr lang="en-US" sz="3200" b="1" dirty="0">
              <a:latin typeface="Times New Roman" panose="02020603050405020304" pitchFamily="18" charset="0"/>
              <a:cs typeface="Times New Roman" panose="02020603050405020304" pitchFamily="18" charset="0"/>
            </a:endParaRPr>
          </a:p>
          <a:p>
            <a:pPr lvl="0" algn="ctr">
              <a:buClr>
                <a:schemeClr val="dk1"/>
              </a:buClr>
              <a:buSzPts val="2400"/>
            </a:pPr>
            <a:r>
              <a:rPr lang="en-US" sz="3200" b="1" dirty="0" err="1">
                <a:latin typeface="Times New Roman" panose="02020603050405020304" pitchFamily="18" charset="0"/>
                <a:cs typeface="Times New Roman" panose="02020603050405020304" pitchFamily="18" charset="0"/>
              </a:rPr>
              <a:t>FloodGuard</a:t>
            </a:r>
            <a:r>
              <a:rPr lang="en-US" sz="3200" b="1" dirty="0">
                <a:latin typeface="Times New Roman" panose="02020603050405020304" pitchFamily="18" charset="0"/>
                <a:cs typeface="Times New Roman" panose="02020603050405020304" pitchFamily="18" charset="0"/>
              </a:rPr>
              <a:t> Miami</a:t>
            </a:r>
          </a:p>
          <a:p>
            <a:pPr lvl="0" algn="ctr">
              <a:buClr>
                <a:schemeClr val="dk1"/>
              </a:buClr>
              <a:buSzPts val="2400"/>
            </a:pPr>
            <a:r>
              <a:rPr lang="en-US" sz="2800" i="1" dirty="0">
                <a:latin typeface="Times New Roman" panose="02020603050405020304" pitchFamily="18" charset="0"/>
                <a:cs typeface="Times New Roman" panose="02020603050405020304" pitchFamily="18" charset="0"/>
              </a:rPr>
              <a:t>Predict. Prepare. Protect.</a:t>
            </a:r>
          </a:p>
          <a:p>
            <a:pPr lvl="0" algn="ctr">
              <a:buClr>
                <a:schemeClr val="dk1"/>
              </a:buClr>
              <a:buSzPts val="2400"/>
            </a:pPr>
            <a:r>
              <a:rPr lang="en-US" sz="2800" dirty="0">
                <a:latin typeface="Times New Roman" panose="02020603050405020304" pitchFamily="18" charset="0"/>
                <a:cs typeface="Times New Roman" panose="02020603050405020304" pitchFamily="18" charset="0"/>
              </a:rPr>
              <a:t>Smart, no-code flood risk platform for Miami’s communities</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lvl="0" algn="ctr">
              <a:buClr>
                <a:schemeClr val="dk1"/>
              </a:buClr>
              <a:buSzPts val="2400"/>
            </a:pPr>
            <a:endParaRPr lang="en-US" sz="2800" dirty="0">
              <a:latin typeface="Times New Roman" panose="02020603050405020304" pitchFamily="18" charset="0"/>
              <a:cs typeface="Times New Roman" panose="02020603050405020304" pitchFamily="18" charset="0"/>
            </a:endParaRPr>
          </a:p>
          <a:p>
            <a:pPr lvl="0" algn="ctr">
              <a:buClr>
                <a:schemeClr val="dk1"/>
              </a:buClr>
              <a:buSzPts val="2400"/>
            </a:pPr>
            <a:r>
              <a:rPr lang="en-US" sz="2800" dirty="0">
                <a:latin typeface="Times New Roman" panose="02020603050405020304" pitchFamily="18" charset="0"/>
                <a:cs typeface="Times New Roman" panose="02020603050405020304" pitchFamily="18" charset="0"/>
              </a:rPr>
              <a:t>Mostafa Sameer — Civil Engineering Innovator</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Visual:</a:t>
            </a:r>
            <a:r>
              <a:rPr lang="en-US" sz="2800" dirty="0">
                <a:latin typeface="Times New Roman" panose="02020603050405020304" pitchFamily="18" charset="0"/>
                <a:cs typeface="Times New Roman" panose="02020603050405020304" pitchFamily="18" charset="0"/>
              </a:rPr>
              <a:t> A map of Miami overlaid with blue flood zones/satellite imagery</a:t>
            </a:r>
            <a:endParaRPr sz="2800" i="1" u="none" strike="noStrike" cap="none" dirty="0">
              <a:solidFill>
                <a:srgbClr val="002060"/>
              </a:solidFill>
              <a:latin typeface="Times New Roman" panose="02020603050405020304" pitchFamily="18" charset="0"/>
              <a:cs typeface="Times New Roman" panose="02020603050405020304" pitchFamily="18" charset="0"/>
              <a:sym typeface="Arial"/>
            </a:endParaRPr>
          </a:p>
        </p:txBody>
      </p:sp>
      <p:sp>
        <p:nvSpPr>
          <p:cNvPr id="136" name="Google Shape;136;p3"/>
          <p:cNvSpPr txBox="1"/>
          <p:nvPr/>
        </p:nvSpPr>
        <p:spPr>
          <a:xfrm>
            <a:off x="11839235" y="6442649"/>
            <a:ext cx="35276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3</a:t>
            </a:r>
            <a:endParaRPr/>
          </a:p>
        </p:txBody>
      </p:sp>
      <p:pic>
        <p:nvPicPr>
          <p:cNvPr id="137" name="Google Shape;137;p3"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pic>
        <p:nvPicPr>
          <p:cNvPr id="3" name="Picture 2" descr="A logo with a wave and a graphic design&#10;&#10;AI-generated content may be incorrect.">
            <a:extLst>
              <a:ext uri="{FF2B5EF4-FFF2-40B4-BE49-F238E27FC236}">
                <a16:creationId xmlns:a16="http://schemas.microsoft.com/office/drawing/2014/main" id="{FF41EE69-5C3B-D2E5-60A1-3C2D9DFF90B5}"/>
              </a:ext>
            </a:extLst>
          </p:cNvPr>
          <p:cNvPicPr>
            <a:picLocks noChangeAspect="1"/>
          </p:cNvPicPr>
          <p:nvPr/>
        </p:nvPicPr>
        <p:blipFill>
          <a:blip r:embed="rId4"/>
          <a:stretch>
            <a:fillRect/>
          </a:stretch>
        </p:blipFill>
        <p:spPr>
          <a:xfrm>
            <a:off x="0" y="27377"/>
            <a:ext cx="4029956" cy="26866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fade">
                                      <p:cBhvr>
                                        <p:cTn id="7"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4"/>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143" name="Google Shape;143;p4"/>
          <p:cNvSpPr txBox="1"/>
          <p:nvPr/>
        </p:nvSpPr>
        <p:spPr>
          <a:xfrm>
            <a:off x="60010" y="121352"/>
            <a:ext cx="9928447" cy="584735"/>
          </a:xfrm>
          <a:prstGeom prst="rect">
            <a:avLst/>
          </a:prstGeom>
          <a:noFill/>
          <a:ln>
            <a:noFill/>
          </a:ln>
        </p:spPr>
        <p:txBody>
          <a:bodyPr spcFirstLastPara="1" wrap="square" lIns="91425" tIns="45700" rIns="91425" bIns="45700" anchor="t" anchorCtr="0">
            <a:spAutoFit/>
          </a:bodyPr>
          <a:lstStyle/>
          <a:p>
            <a:pPr lvl="0"/>
            <a:r>
              <a:rPr lang="en-US" sz="3200" b="1" dirty="0">
                <a:solidFill>
                  <a:schemeClr val="bg1"/>
                </a:solidFill>
                <a:latin typeface="Times New Roman" panose="02020603050405020304" pitchFamily="18" charset="0"/>
                <a:cs typeface="Times New Roman" panose="02020603050405020304" pitchFamily="18" charset="0"/>
              </a:rPr>
              <a:t>The Problem</a:t>
            </a:r>
            <a:endParaRPr b="1" dirty="0">
              <a:solidFill>
                <a:schemeClr val="bg1"/>
              </a:solidFill>
              <a:latin typeface="Times New Roman" panose="02020603050405020304" pitchFamily="18" charset="0"/>
              <a:cs typeface="Times New Roman" panose="02020603050405020304" pitchFamily="18" charset="0"/>
            </a:endParaRPr>
          </a:p>
        </p:txBody>
      </p:sp>
      <p:cxnSp>
        <p:nvCxnSpPr>
          <p:cNvPr id="144" name="Google Shape;144;p4"/>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145" name="Google Shape;145;p4"/>
          <p:cNvSpPr txBox="1"/>
          <p:nvPr/>
        </p:nvSpPr>
        <p:spPr>
          <a:xfrm>
            <a:off x="11839235" y="6442649"/>
            <a:ext cx="35276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4</a:t>
            </a:r>
            <a:endParaRPr/>
          </a:p>
        </p:txBody>
      </p:sp>
      <p:sp>
        <p:nvSpPr>
          <p:cNvPr id="146" name="Google Shape;146;p4"/>
          <p:cNvSpPr txBox="1"/>
          <p:nvPr/>
        </p:nvSpPr>
        <p:spPr>
          <a:xfrm>
            <a:off x="220782" y="999205"/>
            <a:ext cx="6918928" cy="3785611"/>
          </a:xfrm>
          <a:prstGeom prst="rect">
            <a:avLst/>
          </a:prstGeom>
          <a:noFill/>
          <a:ln>
            <a:noFill/>
          </a:ln>
        </p:spPr>
        <p:txBody>
          <a:bodyPr spcFirstLastPara="1" wrap="square" lIns="91425" tIns="45700" rIns="91425" bIns="45700" anchor="t" anchorCtr="0">
            <a:spAutoFit/>
          </a:bodyPr>
          <a:lstStyle/>
          <a:p>
            <a:pPr lvl="0" algn="ctr" eaLnBrk="0" fontAlgn="base" hangingPunct="0">
              <a:spcBef>
                <a:spcPct val="0"/>
              </a:spcBef>
              <a:spcAft>
                <a:spcPct val="0"/>
              </a:spcAft>
              <a:buClrTx/>
              <a:buFontTx/>
              <a:buChar char="•"/>
            </a:pPr>
            <a:endParaRPr lang="en-US" altLang="en-US" sz="2400" dirty="0">
              <a:solidFill>
                <a:schemeClr val="tx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buClrTx/>
              <a:buFontTx/>
              <a:buChar char="•"/>
            </a:pPr>
            <a:endParaRPr lang="en-US" altLang="en-US" sz="2400" dirty="0">
              <a:solidFill>
                <a:schemeClr val="tx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buClr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Miami is one of the </a:t>
            </a:r>
            <a:r>
              <a:rPr lang="en-US" altLang="en-US" sz="2400" b="1" dirty="0">
                <a:solidFill>
                  <a:schemeClr val="tx1"/>
                </a:solidFill>
                <a:latin typeface="Times New Roman" panose="02020603050405020304" pitchFamily="18" charset="0"/>
                <a:cs typeface="Times New Roman" panose="02020603050405020304" pitchFamily="18" charset="0"/>
              </a:rPr>
              <a:t>most flood-prone cities in the U.S.</a:t>
            </a:r>
            <a:endParaRPr lang="en-US" altLang="en-US" sz="2400" dirty="0">
              <a:solidFill>
                <a:schemeClr val="tx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buClr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Even </a:t>
            </a:r>
            <a:r>
              <a:rPr lang="en-US" altLang="en-US" sz="2400" i="1" dirty="0">
                <a:solidFill>
                  <a:schemeClr val="tx1"/>
                </a:solidFill>
                <a:latin typeface="Times New Roman" panose="02020603050405020304" pitchFamily="18" charset="0"/>
                <a:cs typeface="Times New Roman" panose="02020603050405020304" pitchFamily="18" charset="0"/>
              </a:rPr>
              <a:t>sunny-day flooding</a:t>
            </a:r>
            <a:r>
              <a:rPr lang="en-US" altLang="en-US" sz="2400" dirty="0">
                <a:solidFill>
                  <a:schemeClr val="tx1"/>
                </a:solidFill>
                <a:latin typeface="Times New Roman" panose="02020603050405020304" pitchFamily="18" charset="0"/>
                <a:cs typeface="Times New Roman" panose="02020603050405020304" pitchFamily="18" charset="0"/>
              </a:rPr>
              <a:t> affects neighborhoods like Brickell and Little River.</a:t>
            </a:r>
          </a:p>
          <a:p>
            <a:pPr lvl="0" algn="ctr" eaLnBrk="0" fontAlgn="base" hangingPunct="0">
              <a:spcBef>
                <a:spcPct val="0"/>
              </a:spcBef>
              <a:spcAft>
                <a:spcPct val="0"/>
              </a:spcAft>
              <a:buClr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Existing FEMA maps are </a:t>
            </a:r>
            <a:r>
              <a:rPr lang="en-US" altLang="en-US" sz="2400" b="1" dirty="0">
                <a:solidFill>
                  <a:schemeClr val="tx1"/>
                </a:solidFill>
                <a:latin typeface="Times New Roman" panose="02020603050405020304" pitchFamily="18" charset="0"/>
                <a:cs typeface="Times New Roman" panose="02020603050405020304" pitchFamily="18" charset="0"/>
              </a:rPr>
              <a:t>outdated, reactive, and not localized.</a:t>
            </a:r>
            <a:endParaRPr lang="en-US" altLang="en-US" sz="2400" dirty="0">
              <a:solidFill>
                <a:schemeClr val="tx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buClr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City planners, residents, and businesses </a:t>
            </a:r>
            <a:r>
              <a:rPr lang="en-US" altLang="en-US" sz="2400" b="1" dirty="0">
                <a:solidFill>
                  <a:schemeClr val="tx1"/>
                </a:solidFill>
                <a:latin typeface="Times New Roman" panose="02020603050405020304" pitchFamily="18" charset="0"/>
                <a:cs typeface="Times New Roman" panose="02020603050405020304" pitchFamily="18" charset="0"/>
              </a:rPr>
              <a:t>lack real-time flood risk data.</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grpSp>
        <p:nvGrpSpPr>
          <p:cNvPr id="147" name="Google Shape;147;p4"/>
          <p:cNvGrpSpPr/>
          <p:nvPr/>
        </p:nvGrpSpPr>
        <p:grpSpPr>
          <a:xfrm>
            <a:off x="7470989" y="1000488"/>
            <a:ext cx="4296295" cy="2938544"/>
            <a:chOff x="0" y="0"/>
            <a:chExt cx="59511" cy="33991"/>
          </a:xfrm>
        </p:grpSpPr>
        <p:grpSp>
          <p:nvGrpSpPr>
            <p:cNvPr id="148" name="Google Shape;148;p4"/>
            <p:cNvGrpSpPr/>
            <p:nvPr/>
          </p:nvGrpSpPr>
          <p:grpSpPr>
            <a:xfrm>
              <a:off x="0" y="0"/>
              <a:ext cx="59511" cy="29374"/>
              <a:chOff x="-79" y="-159"/>
              <a:chExt cx="59511" cy="29385"/>
            </a:xfrm>
          </p:grpSpPr>
          <p:pic>
            <p:nvPicPr>
              <p:cNvPr id="149" name="Google Shape;149;p4" descr="A picture containing bedclothes&#10;&#10;Description automatically generated"/>
              <p:cNvPicPr preferRelativeResize="0"/>
              <p:nvPr/>
            </p:nvPicPr>
            <p:blipFill rotWithShape="1">
              <a:blip r:embed="rId3">
                <a:alphaModFix/>
              </a:blip>
              <a:srcRect r="6" b="32641"/>
              <a:stretch/>
            </p:blipFill>
            <p:spPr>
              <a:xfrm>
                <a:off x="0" y="0"/>
                <a:ext cx="59432" cy="29226"/>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150" name="Google Shape;150;p4" descr="Shape&#10;&#10;Description automatically generated"/>
              <p:cNvPicPr preferRelativeResize="0"/>
              <p:nvPr/>
            </p:nvPicPr>
            <p:blipFill rotWithShape="1">
              <a:blip r:embed="rId4">
                <a:alphaModFix/>
              </a:blip>
              <a:srcRect/>
              <a:stretch/>
            </p:blipFill>
            <p:spPr>
              <a:xfrm>
                <a:off x="-79" y="-159"/>
                <a:ext cx="4875" cy="29385"/>
              </a:xfrm>
              <a:prstGeom prst="rect">
                <a:avLst/>
              </a:prstGeom>
              <a:noFill/>
              <a:ln>
                <a:noFill/>
              </a:ln>
            </p:spPr>
          </p:pic>
        </p:grpSp>
        <p:sp>
          <p:nvSpPr>
            <p:cNvPr id="151" name="Google Shape;151;p4"/>
            <p:cNvSpPr txBox="1"/>
            <p:nvPr/>
          </p:nvSpPr>
          <p:spPr>
            <a:xfrm>
              <a:off x="834" y="29737"/>
              <a:ext cx="57237" cy="4254"/>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0"/>
                </a:spcBef>
                <a:spcAft>
                  <a:spcPts val="0"/>
                </a:spcAft>
                <a:buClr>
                  <a:schemeClr val="dk1"/>
                </a:buClr>
                <a:buSzPts val="1100"/>
                <a:buFont typeface="Times New Roman"/>
                <a:buNone/>
              </a:pPr>
              <a:r>
                <a:rPr lang="en-US" sz="1100" b="1">
                  <a:solidFill>
                    <a:schemeClr val="dk1"/>
                  </a:solidFill>
                  <a:latin typeface="Times New Roman"/>
                  <a:ea typeface="Times New Roman"/>
                  <a:cs typeface="Times New Roman"/>
                  <a:sym typeface="Times New Roman"/>
                </a:rPr>
                <a:t>Fig. 5.</a:t>
              </a:r>
              <a:r>
                <a:rPr lang="en-US" sz="1100">
                  <a:solidFill>
                    <a:schemeClr val="dk1"/>
                  </a:solidFill>
                  <a:latin typeface="Times New Roman"/>
                  <a:ea typeface="Times New Roman"/>
                  <a:cs typeface="Times New Roman"/>
                  <a:sym typeface="Times New Roman"/>
                </a:rPr>
                <a:t> A schematic representation of mapped community with buildings color coded based on their archetypes along with flood hazard map overlaid with the community model. </a:t>
              </a:r>
              <a:endParaRPr sz="1100">
                <a:solidFill>
                  <a:schemeClr val="dk1"/>
                </a:solidFill>
                <a:latin typeface="Calibri"/>
                <a:ea typeface="Calibri"/>
                <a:cs typeface="Calibri"/>
                <a:sym typeface="Calibri"/>
              </a:endParaRPr>
            </a:p>
            <a:p>
              <a:pPr marL="0" marR="0" lvl="0" indent="0" algn="l" rtl="0">
                <a:lnSpc>
                  <a:spcPct val="107000"/>
                </a:lnSpc>
                <a:spcBef>
                  <a:spcPts val="800"/>
                </a:spcBef>
                <a:spcAft>
                  <a:spcPts val="0"/>
                </a:spcAft>
                <a:buClr>
                  <a:schemeClr val="dk1"/>
                </a:buClr>
                <a:buSzPts val="1100"/>
                <a:buFont typeface="Times New Roman"/>
                <a:buNone/>
              </a:pPr>
              <a:r>
                <a:rPr lang="en-US" sz="1100">
                  <a:solidFill>
                    <a:schemeClr val="dk1"/>
                  </a:solidFill>
                  <a:latin typeface="Times New Roman"/>
                  <a:ea typeface="Times New Roman"/>
                  <a:cs typeface="Times New Roman"/>
                  <a:sym typeface="Times New Roman"/>
                </a:rPr>
                <a:t> </a:t>
              </a:r>
              <a:endParaRPr sz="1100">
                <a:solidFill>
                  <a:schemeClr val="dk1"/>
                </a:solidFill>
                <a:latin typeface="Calibri"/>
                <a:ea typeface="Calibri"/>
                <a:cs typeface="Calibri"/>
                <a:sym typeface="Calibri"/>
              </a:endParaRPr>
            </a:p>
            <a:p>
              <a:pPr marL="0" marR="0" lvl="0" indent="0" algn="l" rtl="0">
                <a:lnSpc>
                  <a:spcPct val="107000"/>
                </a:lnSpc>
                <a:spcBef>
                  <a:spcPts val="800"/>
                </a:spcBef>
                <a:spcAft>
                  <a:spcPts val="0"/>
                </a:spcAft>
                <a:buNone/>
              </a:pPr>
              <a:r>
                <a:rPr lang="en-US" sz="10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grpSp>
      <p:pic>
        <p:nvPicPr>
          <p:cNvPr id="152" name="Google Shape;152;p4"/>
          <p:cNvPicPr preferRelativeResize="0"/>
          <p:nvPr/>
        </p:nvPicPr>
        <p:blipFill rotWithShape="1">
          <a:blip r:embed="rId5">
            <a:alphaModFix/>
          </a:blip>
          <a:srcRect/>
          <a:stretch/>
        </p:blipFill>
        <p:spPr>
          <a:xfrm>
            <a:off x="7553074" y="4445468"/>
            <a:ext cx="4132127" cy="2267025"/>
          </a:xfrm>
          <a:prstGeom prst="rect">
            <a:avLst/>
          </a:prstGeom>
          <a:noFill/>
          <a:ln>
            <a:noFill/>
          </a:ln>
        </p:spPr>
      </p:pic>
      <p:pic>
        <p:nvPicPr>
          <p:cNvPr id="153" name="Google Shape;153;p4" descr="A white and gold logo&#10;&#10;AI-generated content may be incorrect."/>
          <p:cNvPicPr preferRelativeResize="0"/>
          <p:nvPr/>
        </p:nvPicPr>
        <p:blipFill rotWithShape="1">
          <a:blip r:embed="rId6">
            <a:alphaModFix/>
          </a:blip>
          <a:srcRect/>
          <a:stretch/>
        </p:blipFill>
        <p:spPr>
          <a:xfrm>
            <a:off x="10789143" y="-6350"/>
            <a:ext cx="1226474" cy="12264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500"/>
                                        <p:tgtEl>
                                          <p:spTgt spid="147"/>
                                        </p:tgtEl>
                                      </p:cBhvr>
                                    </p:animEffect>
                                  </p:childTnLst>
                                </p:cTn>
                              </p:par>
                              <p:par>
                                <p:cTn id="8" presetID="10" presetClass="entr" presetSubtype="0" fill="hold" nodeType="withEffect">
                                  <p:stCondLst>
                                    <p:cond delay="0"/>
                                  </p:stCondLst>
                                  <p:childTnLst>
                                    <p:set>
                                      <p:cBhvr>
                                        <p:cTn id="9" dur="1" fill="hold">
                                          <p:stCondLst>
                                            <p:cond delay="0"/>
                                          </p:stCondLst>
                                        </p:cTn>
                                        <p:tgtEl>
                                          <p:spTgt spid="152"/>
                                        </p:tgtEl>
                                        <p:attrNameLst>
                                          <p:attrName>style.visibility</p:attrName>
                                        </p:attrNameLst>
                                      </p:cBhvr>
                                      <p:to>
                                        <p:strVal val="visible"/>
                                      </p:to>
                                    </p:set>
                                    <p:animEffect transition="in" filter="fade">
                                      <p:cBhvr>
                                        <p:cTn id="10" dur="500"/>
                                        <p:tgtEl>
                                          <p:spTgt spid="152"/>
                                        </p:tgtEl>
                                      </p:cBhvr>
                                    </p:animEffect>
                                  </p:childTnLst>
                                </p:cTn>
                              </p:par>
                              <p:par>
                                <p:cTn id="11" presetID="10" presetClass="entr" presetSubtype="0" fill="hold" nodeType="withEffect">
                                  <p:stCondLst>
                                    <p:cond delay="0"/>
                                  </p:stCondLst>
                                  <p:childTnLst>
                                    <p:set>
                                      <p:cBhvr>
                                        <p:cTn id="12" dur="1" fill="hold">
                                          <p:stCondLst>
                                            <p:cond delay="0"/>
                                          </p:stCondLst>
                                        </p:cTn>
                                        <p:tgtEl>
                                          <p:spTgt spid="153"/>
                                        </p:tgtEl>
                                        <p:attrNameLst>
                                          <p:attrName>style.visibility</p:attrName>
                                        </p:attrNameLst>
                                      </p:cBhvr>
                                      <p:to>
                                        <p:strVal val="visible"/>
                                      </p:to>
                                    </p:set>
                                    <p:animEffect transition="in" filter="fade">
                                      <p:cBhvr>
                                        <p:cTn id="13"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6"/>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173" name="Google Shape;173;p6"/>
          <p:cNvSpPr txBox="1"/>
          <p:nvPr/>
        </p:nvSpPr>
        <p:spPr>
          <a:xfrm>
            <a:off x="60010" y="121352"/>
            <a:ext cx="9928447" cy="584735"/>
          </a:xfrm>
          <a:prstGeom prst="rect">
            <a:avLst/>
          </a:prstGeom>
          <a:noFill/>
          <a:ln>
            <a:noFill/>
          </a:ln>
        </p:spPr>
        <p:txBody>
          <a:bodyPr spcFirstLastPara="1" wrap="square" lIns="91425" tIns="45700" rIns="91425" bIns="45700" anchor="t" anchorCtr="0">
            <a:spAutoFit/>
          </a:bodyPr>
          <a:lstStyle/>
          <a:p>
            <a:pPr lvl="0"/>
            <a:r>
              <a:rPr lang="en-US" sz="3200" b="1" dirty="0">
                <a:solidFill>
                  <a:schemeClr val="bg1"/>
                </a:solidFill>
                <a:latin typeface="Times New Roman" panose="02020603050405020304" pitchFamily="18" charset="0"/>
                <a:cs typeface="Times New Roman" panose="02020603050405020304" pitchFamily="18" charset="0"/>
              </a:rPr>
              <a:t>The Opportunity</a:t>
            </a:r>
            <a:endParaRPr b="1" dirty="0">
              <a:solidFill>
                <a:schemeClr val="bg1"/>
              </a:solidFill>
              <a:latin typeface="Times New Roman" panose="02020603050405020304" pitchFamily="18" charset="0"/>
              <a:cs typeface="Times New Roman" panose="02020603050405020304" pitchFamily="18" charset="0"/>
            </a:endParaRPr>
          </a:p>
        </p:txBody>
      </p:sp>
      <p:cxnSp>
        <p:nvCxnSpPr>
          <p:cNvPr id="174" name="Google Shape;174;p6"/>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175" name="Google Shape;175;p6"/>
          <p:cNvSpPr txBox="1"/>
          <p:nvPr/>
        </p:nvSpPr>
        <p:spPr>
          <a:xfrm>
            <a:off x="11749177" y="6442649"/>
            <a:ext cx="4428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6</a:t>
            </a:r>
            <a:endParaRPr/>
          </a:p>
        </p:txBody>
      </p:sp>
      <p:sp>
        <p:nvSpPr>
          <p:cNvPr id="176" name="Google Shape;176;p6"/>
          <p:cNvSpPr txBox="1"/>
          <p:nvPr/>
        </p:nvSpPr>
        <p:spPr>
          <a:xfrm>
            <a:off x="236737" y="1347826"/>
            <a:ext cx="11718524" cy="2677616"/>
          </a:xfrm>
          <a:prstGeom prst="rect">
            <a:avLst/>
          </a:prstGeom>
          <a:noFill/>
          <a:ln>
            <a:noFill/>
          </a:ln>
        </p:spPr>
        <p:txBody>
          <a:bodyPr spcFirstLastPara="1" wrap="square" lIns="91425" tIns="45700" rIns="91425" bIns="45700" anchor="t" anchorCtr="0">
            <a:spAutoFit/>
          </a:bodyPr>
          <a:lstStyle/>
          <a:p>
            <a:pPr lvl="0" algn="ctr" eaLnBrk="0" fontAlgn="base" hangingPunct="0">
              <a:spcBef>
                <a:spcPct val="0"/>
              </a:spcBef>
              <a:spcAft>
                <a:spcPct val="0"/>
              </a:spcAft>
              <a:buClrTx/>
              <a:buFontTx/>
              <a:buChar char="•"/>
            </a:pPr>
            <a:endParaRPr lang="en-US" altLang="en-US" sz="2800" dirty="0">
              <a:solidFill>
                <a:schemeClr val="tx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buClrTx/>
              <a:buFontTx/>
              <a:buChar char="•"/>
            </a:pPr>
            <a:endParaRPr lang="en-US" altLang="en-US" sz="2800" dirty="0">
              <a:solidFill>
                <a:schemeClr val="tx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buClrTx/>
              <a:buFontTx/>
              <a:buChar char="•"/>
            </a:pPr>
            <a:r>
              <a:rPr lang="en-US" altLang="en-US" sz="2800" dirty="0">
                <a:solidFill>
                  <a:schemeClr val="tx1"/>
                </a:solidFill>
                <a:latin typeface="Times New Roman" panose="02020603050405020304" pitchFamily="18" charset="0"/>
                <a:cs typeface="Times New Roman" panose="02020603050405020304" pitchFamily="18" charset="0"/>
              </a:rPr>
              <a:t>Sea level projected to rise </a:t>
            </a:r>
            <a:r>
              <a:rPr lang="en-US" altLang="en-US" sz="2800" b="1" dirty="0">
                <a:solidFill>
                  <a:schemeClr val="tx1"/>
                </a:solidFill>
                <a:latin typeface="Times New Roman" panose="02020603050405020304" pitchFamily="18" charset="0"/>
                <a:cs typeface="Times New Roman" panose="02020603050405020304" pitchFamily="18" charset="0"/>
              </a:rPr>
              <a:t>14–26 inches by 2060.</a:t>
            </a:r>
            <a:endParaRPr lang="en-US" altLang="en-US" sz="2800" dirty="0">
              <a:solidFill>
                <a:schemeClr val="tx1"/>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buClrTx/>
              <a:buFontTx/>
              <a:buChar char="•"/>
            </a:pPr>
            <a:r>
              <a:rPr lang="en-US" altLang="en-US" sz="2800" dirty="0">
                <a:solidFill>
                  <a:schemeClr val="tx1"/>
                </a:solidFill>
                <a:latin typeface="Times New Roman" panose="02020603050405020304" pitchFamily="18" charset="0"/>
                <a:cs typeface="Times New Roman" panose="02020603050405020304" pitchFamily="18" charset="0"/>
              </a:rPr>
              <a:t>Over </a:t>
            </a:r>
            <a:r>
              <a:rPr lang="en-US" altLang="en-US" sz="2800" b="1" dirty="0">
                <a:solidFill>
                  <a:schemeClr val="tx1"/>
                </a:solidFill>
                <a:latin typeface="Times New Roman" panose="02020603050405020304" pitchFamily="18" charset="0"/>
                <a:cs typeface="Times New Roman" panose="02020603050405020304" pitchFamily="18" charset="0"/>
              </a:rPr>
              <a:t>$3B allocated</a:t>
            </a:r>
            <a:r>
              <a:rPr lang="en-US" altLang="en-US" sz="2800" dirty="0">
                <a:solidFill>
                  <a:schemeClr val="tx1"/>
                </a:solidFill>
                <a:latin typeface="Times New Roman" panose="02020603050405020304" pitchFamily="18" charset="0"/>
                <a:cs typeface="Times New Roman" panose="02020603050405020304" pitchFamily="18" charset="0"/>
              </a:rPr>
              <a:t> to flood resilience in Miami-Dade 2030 Plan.</a:t>
            </a:r>
          </a:p>
          <a:p>
            <a:pPr lvl="0" algn="ctr" eaLnBrk="0" fontAlgn="base" hangingPunct="0">
              <a:spcBef>
                <a:spcPct val="0"/>
              </a:spcBef>
              <a:spcAft>
                <a:spcPct val="0"/>
              </a:spcAft>
              <a:buClrTx/>
              <a:buFontTx/>
              <a:buChar char="•"/>
            </a:pPr>
            <a:r>
              <a:rPr lang="en-US" altLang="en-US" sz="2800" dirty="0">
                <a:solidFill>
                  <a:schemeClr val="tx1"/>
                </a:solidFill>
                <a:latin typeface="Times New Roman" panose="02020603050405020304" pitchFamily="18" charset="0"/>
                <a:cs typeface="Times New Roman" panose="02020603050405020304" pitchFamily="18" charset="0"/>
              </a:rPr>
              <a:t>Demand for </a:t>
            </a:r>
            <a:r>
              <a:rPr lang="en-US" altLang="en-US" sz="2800" b="1" dirty="0">
                <a:solidFill>
                  <a:schemeClr val="tx1"/>
                </a:solidFill>
                <a:latin typeface="Times New Roman" panose="02020603050405020304" pitchFamily="18" charset="0"/>
                <a:cs typeface="Times New Roman" panose="02020603050405020304" pitchFamily="18" charset="0"/>
              </a:rPr>
              <a:t>predictive, affordable flood tools</a:t>
            </a:r>
            <a:r>
              <a:rPr lang="en-US" altLang="en-US" sz="2800" dirty="0">
                <a:solidFill>
                  <a:schemeClr val="tx1"/>
                </a:solidFill>
                <a:latin typeface="Times New Roman" panose="02020603050405020304" pitchFamily="18" charset="0"/>
                <a:cs typeface="Times New Roman" panose="02020603050405020304" pitchFamily="18" charset="0"/>
              </a:rPr>
              <a:t> is growing across South Florida.</a:t>
            </a:r>
          </a:p>
        </p:txBody>
      </p:sp>
      <p:pic>
        <p:nvPicPr>
          <p:cNvPr id="177" name="Google Shape;177;p6"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pic>
        <p:nvPicPr>
          <p:cNvPr id="3" name="Picture 2" descr="A logo with a wave and a graphic design&#10;&#10;AI-generated content may be incorrect.">
            <a:extLst>
              <a:ext uri="{FF2B5EF4-FFF2-40B4-BE49-F238E27FC236}">
                <a16:creationId xmlns:a16="http://schemas.microsoft.com/office/drawing/2014/main" id="{3DE59AFE-06A1-6A69-AF92-B9AB03426D35}"/>
              </a:ext>
            </a:extLst>
          </p:cNvPr>
          <p:cNvPicPr>
            <a:picLocks noChangeAspect="1"/>
          </p:cNvPicPr>
          <p:nvPr/>
        </p:nvPicPr>
        <p:blipFill>
          <a:blip r:embed="rId4"/>
          <a:stretch>
            <a:fillRect/>
          </a:stretch>
        </p:blipFill>
        <p:spPr>
          <a:xfrm>
            <a:off x="6994187" y="4084713"/>
            <a:ext cx="4029956" cy="26866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fade">
                                      <p:cBhvr>
                                        <p:cTn id="7" dur="5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5"/>
          <p:cNvSpPr txBox="1"/>
          <p:nvPr/>
        </p:nvSpPr>
        <p:spPr>
          <a:xfrm>
            <a:off x="11727402" y="6442649"/>
            <a:ext cx="4645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5</a:t>
            </a:r>
            <a:endParaRPr/>
          </a:p>
        </p:txBody>
      </p:sp>
      <p:sp>
        <p:nvSpPr>
          <p:cNvPr id="159" name="Google Shape;159;p5"/>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160" name="Google Shape;160;p5"/>
          <p:cNvSpPr txBox="1"/>
          <p:nvPr/>
        </p:nvSpPr>
        <p:spPr>
          <a:xfrm>
            <a:off x="60010" y="121352"/>
            <a:ext cx="9928447" cy="584735"/>
          </a:xfrm>
          <a:prstGeom prst="rect">
            <a:avLst/>
          </a:prstGeom>
          <a:noFill/>
          <a:ln>
            <a:noFill/>
          </a:ln>
        </p:spPr>
        <p:txBody>
          <a:bodyPr spcFirstLastPara="1" wrap="square" lIns="91425" tIns="45700" rIns="91425" bIns="45700" anchor="t" anchorCtr="0">
            <a:spAutoFit/>
          </a:bodyPr>
          <a:lstStyle/>
          <a:p>
            <a:pPr lvl="0"/>
            <a:r>
              <a:rPr lang="en-US" sz="3200" b="1" dirty="0">
                <a:solidFill>
                  <a:schemeClr val="lt1"/>
                </a:solidFill>
              </a:rPr>
              <a:t>Methodology</a:t>
            </a:r>
            <a:endParaRPr lang="en-US" sz="3200" dirty="0"/>
          </a:p>
        </p:txBody>
      </p:sp>
      <p:cxnSp>
        <p:nvCxnSpPr>
          <p:cNvPr id="161" name="Google Shape;161;p5"/>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pic>
        <p:nvPicPr>
          <p:cNvPr id="162" name="Google Shape;162;p5" descr="A diagram of a procedure&#10;&#10;AI-generated content may be incorrect."/>
          <p:cNvPicPr preferRelativeResize="0"/>
          <p:nvPr/>
        </p:nvPicPr>
        <p:blipFill rotWithShape="1">
          <a:blip r:embed="rId3">
            <a:alphaModFix/>
          </a:blip>
          <a:srcRect/>
          <a:stretch/>
        </p:blipFill>
        <p:spPr>
          <a:xfrm>
            <a:off x="245231" y="979176"/>
            <a:ext cx="3787833" cy="5510685"/>
          </a:xfrm>
          <a:prstGeom prst="rect">
            <a:avLst/>
          </a:prstGeom>
          <a:noFill/>
          <a:ln>
            <a:noFill/>
          </a:ln>
        </p:spPr>
      </p:pic>
      <p:sp>
        <p:nvSpPr>
          <p:cNvPr id="163" name="Google Shape;163;p5"/>
          <p:cNvSpPr/>
          <p:nvPr/>
        </p:nvSpPr>
        <p:spPr>
          <a:xfrm>
            <a:off x="4033064" y="1325595"/>
            <a:ext cx="777015" cy="3175462"/>
          </a:xfrm>
          <a:prstGeom prst="leftBrace">
            <a:avLst>
              <a:gd name="adj1" fmla="val 8333"/>
              <a:gd name="adj2" fmla="val 50000"/>
            </a:avLst>
          </a:prstGeom>
          <a:noFill/>
          <a:ln w="25400" cap="flat" cmpd="sng">
            <a:solidFill>
              <a:srgbClr val="BF9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164" name="Google Shape;164;p5" descr="A group of buildings with different angles&#10;&#10;AI-generated content may be incorrect."/>
          <p:cNvPicPr preferRelativeResize="0"/>
          <p:nvPr/>
        </p:nvPicPr>
        <p:blipFill rotWithShape="1">
          <a:blip r:embed="rId4">
            <a:alphaModFix/>
          </a:blip>
          <a:srcRect/>
          <a:stretch/>
        </p:blipFill>
        <p:spPr>
          <a:xfrm>
            <a:off x="5011913" y="979176"/>
            <a:ext cx="3832252" cy="3832252"/>
          </a:xfrm>
          <a:prstGeom prst="rect">
            <a:avLst/>
          </a:prstGeom>
          <a:noFill/>
          <a:ln>
            <a:noFill/>
          </a:ln>
        </p:spPr>
      </p:pic>
      <p:pic>
        <p:nvPicPr>
          <p:cNvPr id="165" name="Google Shape;165;p5" descr="A diagram of a process flow&#10;&#10;AI-generated content may be incorrect."/>
          <p:cNvPicPr preferRelativeResize="0"/>
          <p:nvPr/>
        </p:nvPicPr>
        <p:blipFill rotWithShape="1">
          <a:blip r:embed="rId5">
            <a:alphaModFix/>
          </a:blip>
          <a:srcRect/>
          <a:stretch/>
        </p:blipFill>
        <p:spPr>
          <a:xfrm>
            <a:off x="9045999" y="965752"/>
            <a:ext cx="3146000" cy="5524107"/>
          </a:xfrm>
          <a:prstGeom prst="rect">
            <a:avLst/>
          </a:prstGeom>
          <a:noFill/>
          <a:ln>
            <a:noFill/>
          </a:ln>
        </p:spPr>
      </p:pic>
      <p:sp>
        <p:nvSpPr>
          <p:cNvPr id="166" name="Google Shape;166;p5"/>
          <p:cNvSpPr/>
          <p:nvPr/>
        </p:nvSpPr>
        <p:spPr>
          <a:xfrm>
            <a:off x="4414225" y="4913104"/>
            <a:ext cx="5027628" cy="1815841"/>
          </a:xfrm>
          <a:prstGeom prst="rect">
            <a:avLst/>
          </a:prstGeom>
          <a:solidFill>
            <a:srgbClr val="FFFFFF"/>
          </a:solidFill>
          <a:ln w="25400" cap="flat" cmpd="sng">
            <a:solidFill>
              <a:schemeClr val="dk1"/>
            </a:solidFill>
            <a:prstDash val="solid"/>
            <a:round/>
            <a:headEnd type="none" w="sm" len="sm"/>
            <a:tailEnd type="none" w="sm" len="sm"/>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chemeClr val="dk1"/>
              </a:buClr>
              <a:buSzPts val="1200"/>
              <a:buFont typeface="Arial"/>
              <a:buNone/>
            </a:pPr>
            <a:r>
              <a:rPr lang="en-US" sz="1600" i="1" u="none" strike="noStrike" cap="none" dirty="0">
                <a:solidFill>
                  <a:schemeClr val="dk1"/>
                </a:solidFill>
                <a:latin typeface="Times New Roman" panose="02020603050405020304" pitchFamily="18" charset="0"/>
                <a:cs typeface="Times New Roman" panose="02020603050405020304" pitchFamily="18" charset="0"/>
                <a:sym typeface="Arial"/>
              </a:rPr>
              <a:t>This workflow outlines analyzing building damage by loading hazard and building data, combining loss components for different groups, and plotting fragility curves. The results, including damage states and loss values, are then added to the building shapefile for spatial analysis. Finally, visualizations such as total loss by group and damage state probabilities help summarize the findings.</a:t>
            </a:r>
            <a:endParaRPr sz="1800" i="1" dirty="0">
              <a:latin typeface="Times New Roman" panose="02020603050405020304" pitchFamily="18" charset="0"/>
              <a:cs typeface="Times New Roman" panose="02020603050405020304" pitchFamily="18" charset="0"/>
            </a:endParaRPr>
          </a:p>
        </p:txBody>
      </p:sp>
      <p:pic>
        <p:nvPicPr>
          <p:cNvPr id="167" name="Google Shape;167;p5" descr="A white and gold logo&#10;&#10;AI-generated content may be incorrect."/>
          <p:cNvPicPr preferRelativeResize="0"/>
          <p:nvPr/>
        </p:nvPicPr>
        <p:blipFill rotWithShape="1">
          <a:blip r:embed="rId6">
            <a:alphaModFix/>
          </a:blip>
          <a:srcRect/>
          <a:stretch/>
        </p:blipFill>
        <p:spPr>
          <a:xfrm>
            <a:off x="10789143" y="-6350"/>
            <a:ext cx="1226474" cy="12264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fade">
                                      <p:cBhvr>
                                        <p:cTn id="7" dur="500"/>
                                        <p:tgtEl>
                                          <p:spTgt spid="162"/>
                                        </p:tgtEl>
                                      </p:cBhvr>
                                    </p:animEffect>
                                  </p:childTnLst>
                                </p:cTn>
                              </p:par>
                              <p:par>
                                <p:cTn id="8" presetID="10" presetClass="entr" presetSubtype="0" fill="hold" nodeType="withEffect">
                                  <p:stCondLst>
                                    <p:cond delay="0"/>
                                  </p:stCondLst>
                                  <p:childTnLst>
                                    <p:set>
                                      <p:cBhvr>
                                        <p:cTn id="9" dur="1" fill="hold">
                                          <p:stCondLst>
                                            <p:cond delay="0"/>
                                          </p:stCondLst>
                                        </p:cTn>
                                        <p:tgtEl>
                                          <p:spTgt spid="164"/>
                                        </p:tgtEl>
                                        <p:attrNameLst>
                                          <p:attrName>style.visibility</p:attrName>
                                        </p:attrNameLst>
                                      </p:cBhvr>
                                      <p:to>
                                        <p:strVal val="visible"/>
                                      </p:to>
                                    </p:set>
                                    <p:animEffect transition="in" filter="fade">
                                      <p:cBhvr>
                                        <p:cTn id="10" dur="500"/>
                                        <p:tgtEl>
                                          <p:spTgt spid="164"/>
                                        </p:tgtEl>
                                      </p:cBhvr>
                                    </p:animEffect>
                                  </p:childTnLst>
                                </p:cTn>
                              </p:par>
                              <p:par>
                                <p:cTn id="11" presetID="10" presetClass="entr" presetSubtype="0" fill="hold" nodeType="withEffect">
                                  <p:stCondLst>
                                    <p:cond delay="0"/>
                                  </p:stCondLst>
                                  <p:childTnLst>
                                    <p:set>
                                      <p:cBhvr>
                                        <p:cTn id="12" dur="1" fill="hold">
                                          <p:stCondLst>
                                            <p:cond delay="0"/>
                                          </p:stCondLst>
                                        </p:cTn>
                                        <p:tgtEl>
                                          <p:spTgt spid="163"/>
                                        </p:tgtEl>
                                        <p:attrNameLst>
                                          <p:attrName>style.visibility</p:attrName>
                                        </p:attrNameLst>
                                      </p:cBhvr>
                                      <p:to>
                                        <p:strVal val="visible"/>
                                      </p:to>
                                    </p:set>
                                    <p:animEffect transition="in" filter="fade">
                                      <p:cBhvr>
                                        <p:cTn id="13" dur="500"/>
                                        <p:tgtEl>
                                          <p:spTgt spid="163"/>
                                        </p:tgtEl>
                                      </p:cBhvr>
                                    </p:animEffect>
                                  </p:childTnLst>
                                </p:cTn>
                              </p:par>
                              <p:par>
                                <p:cTn id="14" presetID="10" presetClass="entr" presetSubtype="0" fill="hold" nodeType="withEffect">
                                  <p:stCondLst>
                                    <p:cond delay="0"/>
                                  </p:stCondLst>
                                  <p:childTnLst>
                                    <p:set>
                                      <p:cBhvr>
                                        <p:cTn id="15" dur="1" fill="hold">
                                          <p:stCondLst>
                                            <p:cond delay="0"/>
                                          </p:stCondLst>
                                        </p:cTn>
                                        <p:tgtEl>
                                          <p:spTgt spid="165"/>
                                        </p:tgtEl>
                                        <p:attrNameLst>
                                          <p:attrName>style.visibility</p:attrName>
                                        </p:attrNameLst>
                                      </p:cBhvr>
                                      <p:to>
                                        <p:strVal val="visible"/>
                                      </p:to>
                                    </p:set>
                                    <p:animEffect transition="in" filter="fade">
                                      <p:cBhvr>
                                        <p:cTn id="16" dur="1000"/>
                                        <p:tgtEl>
                                          <p:spTgt spid="165"/>
                                        </p:tgtEl>
                                      </p:cBhvr>
                                    </p:animEffect>
                                  </p:childTnLst>
                                </p:cTn>
                              </p:par>
                              <p:par>
                                <p:cTn id="17" presetID="10" presetClass="entr" presetSubtype="0" fill="hold" nodeType="withEffect">
                                  <p:stCondLst>
                                    <p:cond delay="0"/>
                                  </p:stCondLst>
                                  <p:childTnLst>
                                    <p:set>
                                      <p:cBhvr>
                                        <p:cTn id="18" dur="1" fill="hold">
                                          <p:stCondLst>
                                            <p:cond delay="0"/>
                                          </p:stCondLst>
                                        </p:cTn>
                                        <p:tgtEl>
                                          <p:spTgt spid="166"/>
                                        </p:tgtEl>
                                        <p:attrNameLst>
                                          <p:attrName>style.visibility</p:attrName>
                                        </p:attrNameLst>
                                      </p:cBhvr>
                                      <p:to>
                                        <p:strVal val="visible"/>
                                      </p:to>
                                    </p:set>
                                    <p:animEffect transition="in" filter="fade">
                                      <p:cBhvr>
                                        <p:cTn id="19" dur="500"/>
                                        <p:tgtEl>
                                          <p:spTgt spid="166"/>
                                        </p:tgtEl>
                                      </p:cBhvr>
                                    </p:animEffect>
                                  </p:childTnLst>
                                </p:cTn>
                              </p:par>
                              <p:par>
                                <p:cTn id="20" presetID="10" presetClass="entr" presetSubtype="0" fill="hold" nodeType="with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fade">
                                      <p:cBhvr>
                                        <p:cTn id="22" dur="5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7"/>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183" name="Google Shape;183;p7"/>
          <p:cNvSpPr txBox="1"/>
          <p:nvPr/>
        </p:nvSpPr>
        <p:spPr>
          <a:xfrm>
            <a:off x="60010" y="121352"/>
            <a:ext cx="9928447" cy="584735"/>
          </a:xfrm>
          <a:prstGeom prst="rect">
            <a:avLst/>
          </a:prstGeom>
          <a:noFill/>
          <a:ln>
            <a:noFill/>
          </a:ln>
        </p:spPr>
        <p:txBody>
          <a:bodyPr spcFirstLastPara="1" wrap="square" lIns="91425" tIns="45700" rIns="91425" bIns="45700" anchor="t" anchorCtr="0">
            <a:spAutoFit/>
          </a:bodyPr>
          <a:lstStyle/>
          <a:p>
            <a:pPr lvl="0"/>
            <a:r>
              <a:rPr lang="en-US" sz="3200" b="1" dirty="0">
                <a:solidFill>
                  <a:schemeClr val="bg1"/>
                </a:solidFill>
                <a:latin typeface="Times New Roman" panose="02020603050405020304" pitchFamily="18" charset="0"/>
                <a:cs typeface="Times New Roman" panose="02020603050405020304" pitchFamily="18" charset="0"/>
              </a:rPr>
              <a:t>Our Solution: </a:t>
            </a:r>
            <a:r>
              <a:rPr lang="en-US" sz="3200" b="1" dirty="0" err="1">
                <a:solidFill>
                  <a:schemeClr val="bg1"/>
                </a:solidFill>
                <a:latin typeface="Times New Roman" panose="02020603050405020304" pitchFamily="18" charset="0"/>
                <a:cs typeface="Times New Roman" panose="02020603050405020304" pitchFamily="18" charset="0"/>
              </a:rPr>
              <a:t>FloodGuard</a:t>
            </a:r>
            <a:r>
              <a:rPr lang="en-US" sz="3200" b="1" dirty="0">
                <a:solidFill>
                  <a:schemeClr val="bg1"/>
                </a:solidFill>
                <a:latin typeface="Times New Roman" panose="02020603050405020304" pitchFamily="18" charset="0"/>
                <a:cs typeface="Times New Roman" panose="02020603050405020304" pitchFamily="18" charset="0"/>
              </a:rPr>
              <a:t> Miami</a:t>
            </a:r>
            <a:endParaRPr b="1" dirty="0">
              <a:solidFill>
                <a:schemeClr val="bg1"/>
              </a:solidFill>
              <a:latin typeface="Times New Roman" panose="02020603050405020304" pitchFamily="18" charset="0"/>
              <a:cs typeface="Times New Roman" panose="02020603050405020304" pitchFamily="18" charset="0"/>
            </a:endParaRPr>
          </a:p>
        </p:txBody>
      </p:sp>
      <p:cxnSp>
        <p:nvCxnSpPr>
          <p:cNvPr id="184" name="Google Shape;184;p7"/>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185" name="Google Shape;185;p7"/>
          <p:cNvSpPr txBox="1"/>
          <p:nvPr/>
        </p:nvSpPr>
        <p:spPr>
          <a:xfrm>
            <a:off x="11749177" y="6442649"/>
            <a:ext cx="4428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7</a:t>
            </a:r>
            <a:endParaRPr/>
          </a:p>
        </p:txBody>
      </p:sp>
      <p:pic>
        <p:nvPicPr>
          <p:cNvPr id="186" name="Google Shape;186;p7"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sp>
        <p:nvSpPr>
          <p:cNvPr id="187" name="Google Shape;187;p7"/>
          <p:cNvSpPr/>
          <p:nvPr/>
        </p:nvSpPr>
        <p:spPr>
          <a:xfrm>
            <a:off x="60010" y="857223"/>
            <a:ext cx="4581727" cy="3416279"/>
          </a:xfrm>
          <a:prstGeom prst="rect">
            <a:avLst/>
          </a:prstGeom>
          <a:solidFill>
            <a:srgbClr val="FFFFFF"/>
          </a:solidFill>
          <a:ln w="25400" cap="flat" cmpd="sng">
            <a:solidFill>
              <a:schemeClr val="dk1"/>
            </a:solidFill>
            <a:prstDash val="solid"/>
            <a:round/>
            <a:headEnd type="none" w="sm" len="sm"/>
            <a:tailEnd type="none" w="sm" len="sm"/>
          </a:ln>
        </p:spPr>
        <p:txBody>
          <a:bodyPr spcFirstLastPara="1" wrap="square" lIns="45700" tIns="45700" rIns="45700" bIns="45700" anchor="ctr" anchorCtr="0">
            <a:spAutoFit/>
          </a:bodyPr>
          <a:lstStyle/>
          <a:p>
            <a:pPr algn="ctr"/>
            <a:r>
              <a:rPr lang="en-US" sz="2400" b="1" dirty="0" err="1">
                <a:latin typeface="Times New Roman" panose="02020603050405020304" pitchFamily="18" charset="0"/>
                <a:cs typeface="Times New Roman" panose="02020603050405020304" pitchFamily="18" charset="0"/>
              </a:rPr>
              <a:t>FloodGuard</a:t>
            </a:r>
            <a:r>
              <a:rPr lang="en-US" sz="2400" b="1" dirty="0">
                <a:latin typeface="Times New Roman" panose="02020603050405020304" pitchFamily="18" charset="0"/>
                <a:cs typeface="Times New Roman" panose="02020603050405020304" pitchFamily="18" charset="0"/>
              </a:rPr>
              <a:t> Miami</a:t>
            </a:r>
            <a:r>
              <a:rPr lang="en-US" sz="2400" dirty="0">
                <a:latin typeface="Times New Roman" panose="02020603050405020304" pitchFamily="18" charset="0"/>
                <a:cs typeface="Times New Roman" panose="02020603050405020304" pitchFamily="18" charset="0"/>
              </a:rPr>
              <a:t> is a no-code </a:t>
            </a:r>
            <a:r>
              <a:rPr lang="en-US" sz="2400" b="1" dirty="0">
                <a:latin typeface="Times New Roman" panose="02020603050405020304" pitchFamily="18" charset="0"/>
                <a:cs typeface="Times New Roman" panose="02020603050405020304" pitchFamily="18" charset="0"/>
              </a:rPr>
              <a:t>flood prediction and alert platform</a:t>
            </a:r>
            <a:r>
              <a:rPr lang="en-US" sz="2400" dirty="0">
                <a:latin typeface="Times New Roman" panose="02020603050405020304" pitchFamily="18" charset="0"/>
                <a:cs typeface="Times New Roman" panose="02020603050405020304" pitchFamily="18" charset="0"/>
              </a:rPr>
              <a:t> combining:</a:t>
            </a:r>
          </a:p>
          <a:p>
            <a:pPr algn="ctr"/>
            <a:r>
              <a:rPr lang="en-US" sz="2400" dirty="0">
                <a:latin typeface="Times New Roman" panose="02020603050405020304" pitchFamily="18" charset="0"/>
                <a:cs typeface="Times New Roman" panose="02020603050405020304" pitchFamily="18" charset="0"/>
              </a:rPr>
              <a:t>Real-time </a:t>
            </a:r>
            <a:r>
              <a:rPr lang="en-US" sz="2400" b="1" dirty="0">
                <a:latin typeface="Times New Roman" panose="02020603050405020304" pitchFamily="18" charset="0"/>
                <a:cs typeface="Times New Roman" panose="02020603050405020304" pitchFamily="18" charset="0"/>
              </a:rPr>
              <a:t>open data</a:t>
            </a:r>
            <a:r>
              <a:rPr lang="en-US" sz="2400" dirty="0">
                <a:latin typeface="Times New Roman" panose="02020603050405020304" pitchFamily="18" charset="0"/>
                <a:cs typeface="Times New Roman" panose="02020603050405020304" pitchFamily="18" charset="0"/>
              </a:rPr>
              <a:t> (NOAA, USGS, rain gauges)</a:t>
            </a:r>
          </a:p>
          <a:p>
            <a:pPr algn="ctr"/>
            <a:r>
              <a:rPr lang="en-US" sz="2400" b="1" dirty="0">
                <a:latin typeface="Times New Roman" panose="02020603050405020304" pitchFamily="18" charset="0"/>
                <a:cs typeface="Times New Roman" panose="02020603050405020304" pitchFamily="18" charset="0"/>
              </a:rPr>
              <a:t>Community flood reports</a:t>
            </a:r>
            <a:r>
              <a:rPr lang="en-US" sz="2400" dirty="0">
                <a:latin typeface="Times New Roman" panose="02020603050405020304" pitchFamily="18" charset="0"/>
                <a:cs typeface="Times New Roman" panose="02020603050405020304" pitchFamily="18" charset="0"/>
              </a:rPr>
              <a:t> via mobile app</a:t>
            </a:r>
          </a:p>
          <a:p>
            <a:pPr algn="ctr"/>
            <a:r>
              <a:rPr lang="en-US" sz="2400" b="1" dirty="0">
                <a:latin typeface="Times New Roman" panose="02020603050405020304" pitchFamily="18" charset="0"/>
                <a:cs typeface="Times New Roman" panose="02020603050405020304" pitchFamily="18" charset="0"/>
              </a:rPr>
              <a:t>AI-driven risk scoring</a:t>
            </a:r>
            <a:r>
              <a:rPr lang="en-US" sz="2400" dirty="0">
                <a:latin typeface="Times New Roman" panose="02020603050405020304" pitchFamily="18" charset="0"/>
                <a:cs typeface="Times New Roman" panose="02020603050405020304" pitchFamily="18" charset="0"/>
              </a:rPr>
              <a:t> for neighborhoods</a:t>
            </a:r>
          </a:p>
        </p:txBody>
      </p:sp>
      <p:pic>
        <p:nvPicPr>
          <p:cNvPr id="188" name="Google Shape;188;p7"/>
          <p:cNvPicPr preferRelativeResize="0"/>
          <p:nvPr/>
        </p:nvPicPr>
        <p:blipFill rotWithShape="1">
          <a:blip r:embed="rId4">
            <a:alphaModFix/>
          </a:blip>
          <a:srcRect/>
          <a:stretch/>
        </p:blipFill>
        <p:spPr>
          <a:xfrm>
            <a:off x="5002373" y="1375589"/>
            <a:ext cx="6704495" cy="4973444"/>
          </a:xfrm>
          <a:prstGeom prst="rect">
            <a:avLst/>
          </a:prstGeom>
          <a:noFill/>
          <a:ln>
            <a:noFill/>
          </a:ln>
        </p:spPr>
      </p:pic>
      <p:pic>
        <p:nvPicPr>
          <p:cNvPr id="189" name="Google Shape;189;p7"/>
          <p:cNvPicPr preferRelativeResize="0"/>
          <p:nvPr/>
        </p:nvPicPr>
        <p:blipFill rotWithShape="1">
          <a:blip r:embed="rId5">
            <a:alphaModFix/>
          </a:blip>
          <a:srcRect/>
          <a:stretch/>
        </p:blipFill>
        <p:spPr>
          <a:xfrm>
            <a:off x="5305792" y="2647995"/>
            <a:ext cx="514350" cy="3219450"/>
          </a:xfrm>
          <a:prstGeom prst="rect">
            <a:avLst/>
          </a:prstGeom>
          <a:noFill/>
          <a:ln>
            <a:noFill/>
          </a:ln>
          <a:effectLst>
            <a:reflection stA="30000" endPos="30000" dist="5000" dir="5400000" fadeDir="5400012" sy="-100000" algn="bl" rotWithShape="0"/>
          </a:effectLst>
        </p:spPr>
      </p:pic>
      <p:pic>
        <p:nvPicPr>
          <p:cNvPr id="190" name="Google Shape;190;p7"/>
          <p:cNvPicPr preferRelativeResize="0"/>
          <p:nvPr/>
        </p:nvPicPr>
        <p:blipFill rotWithShape="1">
          <a:blip r:embed="rId6">
            <a:alphaModFix/>
          </a:blip>
          <a:srcRect r="45590"/>
          <a:stretch/>
        </p:blipFill>
        <p:spPr>
          <a:xfrm>
            <a:off x="11186887" y="5398151"/>
            <a:ext cx="647700" cy="733500"/>
          </a:xfrm>
          <a:prstGeom prst="roundRect">
            <a:avLst>
              <a:gd name="adj" fmla="val 4167"/>
            </a:avLst>
          </a:prstGeom>
          <a:solidFill>
            <a:srgbClr val="FFFFFF"/>
          </a:solidFill>
          <a:ln w="76200" cap="sq" cmpd="sng">
            <a:solidFill>
              <a:srgbClr val="EAEAEA"/>
            </a:solidFill>
            <a:prstDash val="solid"/>
            <a:miter lim="800000"/>
            <a:headEnd type="none" w="sm" len="sm"/>
            <a:tailEnd type="none" w="sm" len="sm"/>
          </a:ln>
          <a:effectLst>
            <a:reflection stA="33000" endPos="28000" dist="5000" dir="5400000" fadeDir="5400012" sy="-100000" algn="bl" rotWithShape="0"/>
          </a:effectLst>
        </p:spPr>
      </p:pic>
      <p:pic>
        <p:nvPicPr>
          <p:cNvPr id="3" name="Picture 2" descr="A logo with a wave and a graphic design&#10;&#10;AI-generated content may be incorrect.">
            <a:extLst>
              <a:ext uri="{FF2B5EF4-FFF2-40B4-BE49-F238E27FC236}">
                <a16:creationId xmlns:a16="http://schemas.microsoft.com/office/drawing/2014/main" id="{F4FD8002-8249-B08C-6F84-53E84EC606A9}"/>
              </a:ext>
            </a:extLst>
          </p:cNvPr>
          <p:cNvPicPr>
            <a:picLocks noChangeAspect="1"/>
          </p:cNvPicPr>
          <p:nvPr/>
        </p:nvPicPr>
        <p:blipFill>
          <a:blip r:embed="rId7"/>
          <a:stretch>
            <a:fillRect/>
          </a:stretch>
        </p:blipFill>
        <p:spPr>
          <a:xfrm>
            <a:off x="176742" y="4330625"/>
            <a:ext cx="3597590" cy="23983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6"/>
                                        </p:tgtEl>
                                        <p:attrNameLst>
                                          <p:attrName>style.visibility</p:attrName>
                                        </p:attrNameLst>
                                      </p:cBhvr>
                                      <p:to>
                                        <p:strVal val="visible"/>
                                      </p:to>
                                    </p:set>
                                    <p:animEffect transition="in" filter="fade">
                                      <p:cBhvr>
                                        <p:cTn id="7" dur="500"/>
                                        <p:tgtEl>
                                          <p:spTgt spid="1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7"/>
                                        </p:tgtEl>
                                        <p:attrNameLst>
                                          <p:attrName>style.visibility</p:attrName>
                                        </p:attrNameLst>
                                      </p:cBhvr>
                                      <p:to>
                                        <p:strVal val="visible"/>
                                      </p:to>
                                    </p:set>
                                    <p:animEffect transition="in" filter="fade">
                                      <p:cBhvr>
                                        <p:cTn id="12" dur="1000"/>
                                        <p:tgtEl>
                                          <p:spTgt spid="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8"/>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196" name="Google Shape;196;p8"/>
          <p:cNvSpPr txBox="1"/>
          <p:nvPr/>
        </p:nvSpPr>
        <p:spPr>
          <a:xfrm>
            <a:off x="60010" y="121352"/>
            <a:ext cx="9928447" cy="584735"/>
          </a:xfrm>
          <a:prstGeom prst="rect">
            <a:avLst/>
          </a:prstGeom>
          <a:noFill/>
          <a:ln>
            <a:noFill/>
          </a:ln>
        </p:spPr>
        <p:txBody>
          <a:bodyPr spcFirstLastPara="1" wrap="square" lIns="91425" tIns="45700" rIns="91425" bIns="45700" anchor="t" anchorCtr="0">
            <a:spAutoFit/>
          </a:bodyPr>
          <a:lstStyle/>
          <a:p>
            <a:pPr lvl="0"/>
            <a:r>
              <a:rPr lang="en-US" sz="3200" b="1" dirty="0">
                <a:solidFill>
                  <a:schemeClr val="bg1"/>
                </a:solidFill>
                <a:latin typeface="Times New Roman" panose="02020603050405020304" pitchFamily="18" charset="0"/>
                <a:cs typeface="Times New Roman" panose="02020603050405020304" pitchFamily="18" charset="0"/>
              </a:rPr>
              <a:t>How It Works</a:t>
            </a:r>
            <a:endParaRPr b="1" dirty="0">
              <a:solidFill>
                <a:schemeClr val="bg1"/>
              </a:solidFill>
              <a:latin typeface="Times New Roman" panose="02020603050405020304" pitchFamily="18" charset="0"/>
              <a:cs typeface="Times New Roman" panose="02020603050405020304" pitchFamily="18" charset="0"/>
            </a:endParaRPr>
          </a:p>
        </p:txBody>
      </p:sp>
      <p:cxnSp>
        <p:nvCxnSpPr>
          <p:cNvPr id="197" name="Google Shape;197;p8"/>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198" name="Google Shape;198;p8"/>
          <p:cNvSpPr txBox="1"/>
          <p:nvPr/>
        </p:nvSpPr>
        <p:spPr>
          <a:xfrm>
            <a:off x="11749177" y="6442649"/>
            <a:ext cx="4428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8</a:t>
            </a:r>
            <a:endParaRPr/>
          </a:p>
        </p:txBody>
      </p:sp>
      <p:pic>
        <p:nvPicPr>
          <p:cNvPr id="199" name="Google Shape;199;p8"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pic>
        <p:nvPicPr>
          <p:cNvPr id="203" name="Google Shape;203;p8"/>
          <p:cNvPicPr preferRelativeResize="0"/>
          <p:nvPr/>
        </p:nvPicPr>
        <p:blipFill rotWithShape="1">
          <a:blip r:embed="rId4">
            <a:alphaModFix/>
          </a:blip>
          <a:srcRect/>
          <a:stretch/>
        </p:blipFill>
        <p:spPr>
          <a:xfrm>
            <a:off x="6215558" y="2240667"/>
            <a:ext cx="5638929" cy="4051224"/>
          </a:xfrm>
          <a:prstGeom prst="rect">
            <a:avLst/>
          </a:prstGeom>
          <a:noFill/>
          <a:ln>
            <a:noFill/>
          </a:ln>
        </p:spPr>
      </p:pic>
      <p:pic>
        <p:nvPicPr>
          <p:cNvPr id="204" name="Google Shape;204;p8"/>
          <p:cNvPicPr preferRelativeResize="0"/>
          <p:nvPr/>
        </p:nvPicPr>
        <p:blipFill rotWithShape="1">
          <a:blip r:embed="rId5">
            <a:alphaModFix/>
          </a:blip>
          <a:srcRect/>
          <a:stretch/>
        </p:blipFill>
        <p:spPr>
          <a:xfrm>
            <a:off x="11166357" y="5682291"/>
            <a:ext cx="733425" cy="609600"/>
          </a:xfrm>
          <a:prstGeom prst="rect">
            <a:avLst/>
          </a:prstGeom>
          <a:noFill/>
          <a:ln>
            <a:noFill/>
          </a:ln>
        </p:spPr>
      </p:pic>
      <p:pic>
        <p:nvPicPr>
          <p:cNvPr id="205" name="Google Shape;205;p8"/>
          <p:cNvPicPr preferRelativeResize="0"/>
          <p:nvPr/>
        </p:nvPicPr>
        <p:blipFill rotWithShape="1">
          <a:blip r:embed="rId6">
            <a:alphaModFix/>
          </a:blip>
          <a:srcRect/>
          <a:stretch/>
        </p:blipFill>
        <p:spPr>
          <a:xfrm>
            <a:off x="11475840" y="2240667"/>
            <a:ext cx="514350" cy="3219450"/>
          </a:xfrm>
          <a:prstGeom prst="rect">
            <a:avLst/>
          </a:prstGeom>
          <a:noFill/>
          <a:ln>
            <a:noFill/>
          </a:ln>
          <a:effectLst>
            <a:reflection stA="30000" endPos="30000" dist="5000" dir="5400000" sy="-100000" algn="bl" rotWithShape="0"/>
          </a:effectLst>
        </p:spPr>
      </p:pic>
      <p:sp>
        <p:nvSpPr>
          <p:cNvPr id="4" name="TextBox 3">
            <a:extLst>
              <a:ext uri="{FF2B5EF4-FFF2-40B4-BE49-F238E27FC236}">
                <a16:creationId xmlns:a16="http://schemas.microsoft.com/office/drawing/2014/main" id="{9B8E4293-13E7-EF36-DC7C-52F6EBAA63E2}"/>
              </a:ext>
            </a:extLst>
          </p:cNvPr>
          <p:cNvSpPr txBox="1"/>
          <p:nvPr/>
        </p:nvSpPr>
        <p:spPr>
          <a:xfrm>
            <a:off x="201810" y="1752936"/>
            <a:ext cx="5742246" cy="230832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Collects rainfall &amp; tide data from open APIs</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Integrates local flood reports from users</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Predicts next 24–48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hr</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flood risks via simple no-code AI workflows</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alerts + visualization on a public map</a:t>
            </a:r>
          </a:p>
        </p:txBody>
      </p:sp>
      <p:pic>
        <p:nvPicPr>
          <p:cNvPr id="5" name="Picture 4" descr="A logo with a wave and a graphic design&#10;&#10;AI-generated content may be incorrect.">
            <a:extLst>
              <a:ext uri="{FF2B5EF4-FFF2-40B4-BE49-F238E27FC236}">
                <a16:creationId xmlns:a16="http://schemas.microsoft.com/office/drawing/2014/main" id="{F8EEEC22-72D7-D857-9BDB-CC21AD06563F}"/>
              </a:ext>
            </a:extLst>
          </p:cNvPr>
          <p:cNvPicPr>
            <a:picLocks noChangeAspect="1"/>
          </p:cNvPicPr>
          <p:nvPr/>
        </p:nvPicPr>
        <p:blipFill>
          <a:blip r:embed="rId7"/>
          <a:stretch>
            <a:fillRect/>
          </a:stretch>
        </p:blipFill>
        <p:spPr>
          <a:xfrm>
            <a:off x="176742" y="4330625"/>
            <a:ext cx="3597590" cy="23983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500"/>
                                        <p:tgtEl>
                                          <p:spTgt spid="199"/>
                                        </p:tgtEl>
                                      </p:cBhvr>
                                    </p:animEffect>
                                  </p:childTnLst>
                                </p:cTn>
                              </p:par>
                              <p:par>
                                <p:cTn id="8" presetID="10" presetClass="entr" presetSubtype="0" fill="hold" nodeType="withEffect">
                                  <p:stCondLst>
                                    <p:cond delay="0"/>
                                  </p:stCondLst>
                                  <p:childTnLst>
                                    <p:set>
                                      <p:cBhvr>
                                        <p:cTn id="9" dur="1" fill="hold">
                                          <p:stCondLst>
                                            <p:cond delay="0"/>
                                          </p:stCondLst>
                                        </p:cTn>
                                        <p:tgtEl>
                                          <p:spTgt spid="203"/>
                                        </p:tgtEl>
                                        <p:attrNameLst>
                                          <p:attrName>style.visibility</p:attrName>
                                        </p:attrNameLst>
                                      </p:cBhvr>
                                      <p:to>
                                        <p:strVal val="visible"/>
                                      </p:to>
                                    </p:set>
                                    <p:animEffect transition="in" filter="fade">
                                      <p:cBhvr>
                                        <p:cTn id="10" dur="1000"/>
                                        <p:tgtEl>
                                          <p:spTgt spid="203"/>
                                        </p:tgtEl>
                                      </p:cBhvr>
                                    </p:animEffect>
                                  </p:childTnLst>
                                </p:cTn>
                              </p:par>
                              <p:par>
                                <p:cTn id="11" presetID="10" presetClass="entr" presetSubtype="0" fill="hold" nodeType="withEffect">
                                  <p:stCondLst>
                                    <p:cond delay="0"/>
                                  </p:stCondLst>
                                  <p:childTnLst>
                                    <p:set>
                                      <p:cBhvr>
                                        <p:cTn id="12" dur="1" fill="hold">
                                          <p:stCondLst>
                                            <p:cond delay="0"/>
                                          </p:stCondLst>
                                        </p:cTn>
                                        <p:tgtEl>
                                          <p:spTgt spid="204"/>
                                        </p:tgtEl>
                                        <p:attrNameLst>
                                          <p:attrName>style.visibility</p:attrName>
                                        </p:attrNameLst>
                                      </p:cBhvr>
                                      <p:to>
                                        <p:strVal val="visible"/>
                                      </p:to>
                                    </p:set>
                                    <p:animEffect transition="in" filter="fade">
                                      <p:cBhvr>
                                        <p:cTn id="13" dur="1000"/>
                                        <p:tgtEl>
                                          <p:spTgt spid="204"/>
                                        </p:tgtEl>
                                      </p:cBhvr>
                                    </p:animEffect>
                                  </p:childTnLst>
                                </p:cTn>
                              </p:par>
                              <p:par>
                                <p:cTn id="14" presetID="10" presetClass="entr" presetSubtype="0" fill="hold" nodeType="withEffect">
                                  <p:stCondLst>
                                    <p:cond delay="0"/>
                                  </p:stCondLst>
                                  <p:childTnLst>
                                    <p:set>
                                      <p:cBhvr>
                                        <p:cTn id="15" dur="1" fill="hold">
                                          <p:stCondLst>
                                            <p:cond delay="0"/>
                                          </p:stCondLst>
                                        </p:cTn>
                                        <p:tgtEl>
                                          <p:spTgt spid="205"/>
                                        </p:tgtEl>
                                        <p:attrNameLst>
                                          <p:attrName>style.visibility</p:attrName>
                                        </p:attrNameLst>
                                      </p:cBhvr>
                                      <p:to>
                                        <p:strVal val="visible"/>
                                      </p:to>
                                    </p:set>
                                    <p:animEffect transition="in" filter="fade">
                                      <p:cBhvr>
                                        <p:cTn id="16" dur="10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9"/>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211" name="Google Shape;211;p9"/>
          <p:cNvSpPr txBox="1"/>
          <p:nvPr/>
        </p:nvSpPr>
        <p:spPr>
          <a:xfrm>
            <a:off x="60010" y="121352"/>
            <a:ext cx="992844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lt1"/>
                </a:solidFill>
                <a:latin typeface="Times New Roman" panose="02020603050405020304" pitchFamily="18" charset="0"/>
                <a:cs typeface="Times New Roman" panose="02020603050405020304" pitchFamily="18" charset="0"/>
                <a:sym typeface="Arial"/>
              </a:rPr>
              <a:t>Archetype Reduction for Flood Damage Analysis</a:t>
            </a:r>
            <a:endParaRPr dirty="0">
              <a:latin typeface="Times New Roman" panose="02020603050405020304" pitchFamily="18" charset="0"/>
              <a:cs typeface="Times New Roman" panose="02020603050405020304" pitchFamily="18" charset="0"/>
            </a:endParaRPr>
          </a:p>
        </p:txBody>
      </p:sp>
      <p:cxnSp>
        <p:nvCxnSpPr>
          <p:cNvPr id="212" name="Google Shape;212;p9"/>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213" name="Google Shape;213;p9"/>
          <p:cNvSpPr txBox="1"/>
          <p:nvPr/>
        </p:nvSpPr>
        <p:spPr>
          <a:xfrm>
            <a:off x="11749177" y="6442649"/>
            <a:ext cx="4428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9</a:t>
            </a:r>
            <a:endParaRPr/>
          </a:p>
        </p:txBody>
      </p:sp>
      <p:pic>
        <p:nvPicPr>
          <p:cNvPr id="214" name="Google Shape;214;p9"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sp>
        <p:nvSpPr>
          <p:cNvPr id="215" name="Google Shape;215;p9"/>
          <p:cNvSpPr txBox="1"/>
          <p:nvPr/>
        </p:nvSpPr>
        <p:spPr>
          <a:xfrm>
            <a:off x="3902304" y="1641545"/>
            <a:ext cx="3875203" cy="830993"/>
          </a:xfrm>
          <a:prstGeom prst="rect">
            <a:avLst/>
          </a:prstGeom>
          <a:noFill/>
          <a:ln>
            <a:noFill/>
          </a:ln>
        </p:spPr>
        <p:txBody>
          <a:bodyPr spcFirstLastPara="1" wrap="square" lIns="45700" tIns="45700" rIns="45700" bIns="45700" anchor="t" anchorCtr="0">
            <a:spAutoFit/>
          </a:bodyPr>
          <a:lstStyle/>
          <a:p>
            <a:pPr marL="342900" marR="0" lvl="0" indent="-342900" algn="ctr" rtl="0">
              <a:lnSpc>
                <a:spcPct val="100000"/>
              </a:lnSpc>
              <a:spcBef>
                <a:spcPts val="0"/>
              </a:spcBef>
              <a:spcAft>
                <a:spcPts val="0"/>
              </a:spcAft>
              <a:buClr>
                <a:schemeClr val="dk1"/>
              </a:buClr>
              <a:buSzPts val="2400"/>
              <a:buFont typeface="Noto Sans Symbols"/>
              <a:buChar char="❑"/>
            </a:pPr>
            <a:r>
              <a:rPr lang="en-US" sz="2400" b="1" u="none" strike="noStrike" cap="none" dirty="0">
                <a:solidFill>
                  <a:schemeClr val="dk1"/>
                </a:solidFill>
                <a:latin typeface="Times New Roman" panose="02020603050405020304" pitchFamily="18" charset="0"/>
                <a:cs typeface="Times New Roman" panose="02020603050405020304" pitchFamily="18" charset="0"/>
                <a:sym typeface="Arial"/>
              </a:rPr>
              <a:t>Flood Damage Analysis (Archetype Reduction)</a:t>
            </a:r>
            <a:endParaRPr dirty="0">
              <a:latin typeface="Times New Roman" panose="02020603050405020304" pitchFamily="18" charset="0"/>
              <a:cs typeface="Times New Roman" panose="02020603050405020304" pitchFamily="18" charset="0"/>
            </a:endParaRPr>
          </a:p>
        </p:txBody>
      </p:sp>
      <p:sp>
        <p:nvSpPr>
          <p:cNvPr id="216" name="Google Shape;216;p9"/>
          <p:cNvSpPr txBox="1"/>
          <p:nvPr/>
        </p:nvSpPr>
        <p:spPr>
          <a:xfrm>
            <a:off x="1406120" y="2831785"/>
            <a:ext cx="1486068" cy="861770"/>
          </a:xfrm>
          <a:prstGeom prst="rect">
            <a:avLst/>
          </a:prstGeom>
          <a:noFill/>
          <a:ln>
            <a:noFill/>
          </a:ln>
        </p:spPr>
        <p:txBody>
          <a:bodyPr spcFirstLastPara="1" wrap="square" lIns="45700" tIns="45700" rIns="45700" bIns="45700" anchor="t" anchorCtr="0">
            <a:spAutoFit/>
          </a:bodyPr>
          <a:lstStyle/>
          <a:p>
            <a:pPr marL="285750" marR="0" lvl="0" indent="-285750" algn="ctr" rtl="0">
              <a:lnSpc>
                <a:spcPct val="100000"/>
              </a:lnSpc>
              <a:spcBef>
                <a:spcPts val="0"/>
              </a:spcBef>
              <a:spcAft>
                <a:spcPts val="0"/>
              </a:spcAft>
              <a:buClr>
                <a:schemeClr val="dk1"/>
              </a:buClr>
              <a:buSzPts val="1800"/>
              <a:buFont typeface="Noto Sans Symbols"/>
              <a:buChar char="❑"/>
            </a:pPr>
            <a:r>
              <a:rPr lang="en-US" sz="1800" b="1" u="none" strike="noStrike" cap="none" dirty="0">
                <a:solidFill>
                  <a:schemeClr val="dk1"/>
                </a:solidFill>
                <a:latin typeface="Times New Roman" panose="02020603050405020304" pitchFamily="18" charset="0"/>
                <a:cs typeface="Times New Roman" panose="02020603050405020304" pitchFamily="18" charset="0"/>
                <a:sym typeface="Arial"/>
              </a:rPr>
              <a:t>Group 1</a:t>
            </a:r>
            <a:endParaRPr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600" b="1" dirty="0">
                <a:solidFill>
                  <a:schemeClr val="dk1"/>
                </a:solidFill>
                <a:latin typeface="Times New Roman" panose="02020603050405020304" pitchFamily="18" charset="0"/>
                <a:cs typeface="Times New Roman" panose="02020603050405020304" pitchFamily="18" charset="0"/>
                <a:sym typeface="Arial"/>
              </a:rPr>
              <a:t>(10 Building Archetypes)</a:t>
            </a:r>
            <a:endParaRPr sz="1600" b="1"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217" name="Google Shape;217;p9"/>
          <p:cNvSpPr txBox="1"/>
          <p:nvPr/>
        </p:nvSpPr>
        <p:spPr>
          <a:xfrm>
            <a:off x="3250639" y="2831785"/>
            <a:ext cx="1486067" cy="861770"/>
          </a:xfrm>
          <a:prstGeom prst="rect">
            <a:avLst/>
          </a:prstGeom>
          <a:noFill/>
          <a:ln>
            <a:noFill/>
          </a:ln>
        </p:spPr>
        <p:txBody>
          <a:bodyPr spcFirstLastPara="1" wrap="square" lIns="45700" tIns="45700" rIns="45700" bIns="45700" anchor="t" anchorCtr="0">
            <a:spAutoFit/>
          </a:bodyPr>
          <a:lstStyle/>
          <a:p>
            <a:pPr marL="285750" marR="0" lvl="0" indent="-285750" algn="ctr" rtl="0">
              <a:lnSpc>
                <a:spcPct val="100000"/>
              </a:lnSpc>
              <a:spcBef>
                <a:spcPts val="0"/>
              </a:spcBef>
              <a:spcAft>
                <a:spcPts val="0"/>
              </a:spcAft>
              <a:buClr>
                <a:schemeClr val="dk1"/>
              </a:buClr>
              <a:buSzPts val="1800"/>
              <a:buFont typeface="Noto Sans Symbols"/>
              <a:buChar char="❑"/>
            </a:pPr>
            <a:r>
              <a:rPr lang="en-US" sz="1800" b="1" u="none" strike="noStrike" cap="none" dirty="0">
                <a:solidFill>
                  <a:schemeClr val="dk1"/>
                </a:solidFill>
                <a:latin typeface="Times New Roman" panose="02020603050405020304" pitchFamily="18" charset="0"/>
                <a:cs typeface="Times New Roman" panose="02020603050405020304" pitchFamily="18" charset="0"/>
                <a:sym typeface="Arial"/>
              </a:rPr>
              <a:t>Group 2</a:t>
            </a:r>
            <a:endParaRPr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1600"/>
              <a:buFont typeface="Arial"/>
              <a:buNone/>
            </a:pPr>
            <a:r>
              <a:rPr lang="en-US" sz="1600" b="1" dirty="0">
                <a:solidFill>
                  <a:schemeClr val="dk1"/>
                </a:solidFill>
                <a:latin typeface="Times New Roman" panose="02020603050405020304" pitchFamily="18" charset="0"/>
                <a:cs typeface="Times New Roman" panose="02020603050405020304" pitchFamily="18" charset="0"/>
                <a:sym typeface="Arial"/>
              </a:rPr>
              <a:t>(7 Building Archetypes)</a:t>
            </a:r>
            <a:endParaRPr sz="1600" b="1"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218" name="Google Shape;218;p9"/>
          <p:cNvSpPr txBox="1"/>
          <p:nvPr/>
        </p:nvSpPr>
        <p:spPr>
          <a:xfrm>
            <a:off x="5073235" y="2847852"/>
            <a:ext cx="1433051" cy="861770"/>
          </a:xfrm>
          <a:prstGeom prst="rect">
            <a:avLst/>
          </a:prstGeom>
          <a:noFill/>
          <a:ln>
            <a:noFill/>
          </a:ln>
        </p:spPr>
        <p:txBody>
          <a:bodyPr spcFirstLastPara="1" wrap="square" lIns="45700" tIns="45700" rIns="45700" bIns="45700" anchor="t" anchorCtr="0">
            <a:spAutoFit/>
          </a:bodyPr>
          <a:lstStyle/>
          <a:p>
            <a:pPr marL="285750" marR="0" lvl="0" indent="-285750" algn="ctr" rtl="0">
              <a:lnSpc>
                <a:spcPct val="100000"/>
              </a:lnSpc>
              <a:spcBef>
                <a:spcPts val="0"/>
              </a:spcBef>
              <a:spcAft>
                <a:spcPts val="0"/>
              </a:spcAft>
              <a:buClr>
                <a:schemeClr val="dk1"/>
              </a:buClr>
              <a:buSzPts val="1800"/>
              <a:buFont typeface="Noto Sans Symbols"/>
              <a:buChar char="❑"/>
            </a:pPr>
            <a:r>
              <a:rPr lang="en-US" sz="1800" b="1" u="none" strike="noStrike" cap="none" dirty="0">
                <a:solidFill>
                  <a:schemeClr val="dk1"/>
                </a:solidFill>
                <a:latin typeface="Times New Roman" panose="02020603050405020304" pitchFamily="18" charset="0"/>
                <a:cs typeface="Times New Roman" panose="02020603050405020304" pitchFamily="18" charset="0"/>
                <a:sym typeface="Arial"/>
              </a:rPr>
              <a:t>Group 3</a:t>
            </a:r>
            <a:endParaRPr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1600"/>
              <a:buFont typeface="Arial"/>
              <a:buNone/>
            </a:pPr>
            <a:r>
              <a:rPr lang="en-US" sz="1600" b="1" dirty="0">
                <a:solidFill>
                  <a:schemeClr val="dk1"/>
                </a:solidFill>
                <a:latin typeface="Times New Roman" panose="02020603050405020304" pitchFamily="18" charset="0"/>
                <a:cs typeface="Times New Roman" panose="02020603050405020304" pitchFamily="18" charset="0"/>
                <a:sym typeface="Arial"/>
              </a:rPr>
              <a:t>(4 Building Archetypes)</a:t>
            </a:r>
            <a:endParaRPr sz="1600" b="1"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219" name="Google Shape;219;p9"/>
          <p:cNvSpPr txBox="1"/>
          <p:nvPr/>
        </p:nvSpPr>
        <p:spPr>
          <a:xfrm>
            <a:off x="6863115" y="2819315"/>
            <a:ext cx="1486067" cy="861770"/>
          </a:xfrm>
          <a:prstGeom prst="rect">
            <a:avLst/>
          </a:prstGeom>
          <a:noFill/>
          <a:ln>
            <a:noFill/>
          </a:ln>
        </p:spPr>
        <p:txBody>
          <a:bodyPr spcFirstLastPara="1" wrap="square" lIns="45700" tIns="45700" rIns="45700" bIns="45700" anchor="t" anchorCtr="0">
            <a:spAutoFit/>
          </a:bodyPr>
          <a:lstStyle/>
          <a:p>
            <a:pPr marL="285750" marR="0" lvl="0" indent="-285750" algn="ctr" rtl="0">
              <a:lnSpc>
                <a:spcPct val="100000"/>
              </a:lnSpc>
              <a:spcBef>
                <a:spcPts val="0"/>
              </a:spcBef>
              <a:spcAft>
                <a:spcPts val="0"/>
              </a:spcAft>
              <a:buClr>
                <a:schemeClr val="dk1"/>
              </a:buClr>
              <a:buSzPts val="1800"/>
              <a:buFont typeface="Noto Sans Symbols"/>
              <a:buChar char="❑"/>
            </a:pPr>
            <a:r>
              <a:rPr lang="en-US" sz="1800" b="1" u="none" strike="noStrike" cap="none" dirty="0">
                <a:solidFill>
                  <a:schemeClr val="dk1"/>
                </a:solidFill>
                <a:latin typeface="Times New Roman" panose="02020603050405020304" pitchFamily="18" charset="0"/>
                <a:cs typeface="Times New Roman" panose="02020603050405020304" pitchFamily="18" charset="0"/>
                <a:sym typeface="Arial"/>
              </a:rPr>
              <a:t>Group 4</a:t>
            </a:r>
            <a:endParaRPr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1600"/>
              <a:buFont typeface="Arial"/>
              <a:buNone/>
            </a:pPr>
            <a:r>
              <a:rPr lang="en-US" sz="1600" b="1" dirty="0">
                <a:solidFill>
                  <a:schemeClr val="dk1"/>
                </a:solidFill>
                <a:latin typeface="Times New Roman" panose="02020603050405020304" pitchFamily="18" charset="0"/>
                <a:cs typeface="Times New Roman" panose="02020603050405020304" pitchFamily="18" charset="0"/>
                <a:sym typeface="Arial"/>
              </a:rPr>
              <a:t>(3 Building Archetypes)</a:t>
            </a:r>
            <a:endParaRPr sz="1600" b="1"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220" name="Google Shape;220;p9"/>
          <p:cNvSpPr txBox="1"/>
          <p:nvPr/>
        </p:nvSpPr>
        <p:spPr>
          <a:xfrm>
            <a:off x="8597706" y="2825549"/>
            <a:ext cx="1433051" cy="861770"/>
          </a:xfrm>
          <a:prstGeom prst="rect">
            <a:avLst/>
          </a:prstGeom>
          <a:noFill/>
          <a:ln>
            <a:noFill/>
          </a:ln>
        </p:spPr>
        <p:txBody>
          <a:bodyPr spcFirstLastPara="1" wrap="square" lIns="45700" tIns="45700" rIns="45700" bIns="45700" anchor="t" anchorCtr="0">
            <a:spAutoFit/>
          </a:bodyPr>
          <a:lstStyle/>
          <a:p>
            <a:pPr marL="285750" marR="0" lvl="0" indent="-285750" algn="ctr" rtl="0">
              <a:lnSpc>
                <a:spcPct val="100000"/>
              </a:lnSpc>
              <a:spcBef>
                <a:spcPts val="0"/>
              </a:spcBef>
              <a:spcAft>
                <a:spcPts val="0"/>
              </a:spcAft>
              <a:buClr>
                <a:schemeClr val="dk1"/>
              </a:buClr>
              <a:buSzPts val="1800"/>
              <a:buFont typeface="Noto Sans Symbols"/>
              <a:buChar char="❑"/>
            </a:pPr>
            <a:r>
              <a:rPr lang="en-US" sz="1800" b="1" u="none" strike="noStrike" cap="none" dirty="0">
                <a:solidFill>
                  <a:schemeClr val="dk1"/>
                </a:solidFill>
                <a:latin typeface="Times New Roman" panose="02020603050405020304" pitchFamily="18" charset="0"/>
                <a:cs typeface="Times New Roman" panose="02020603050405020304" pitchFamily="18" charset="0"/>
                <a:sym typeface="Arial"/>
              </a:rPr>
              <a:t>Group 5</a:t>
            </a:r>
            <a:endParaRPr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1600"/>
              <a:buFont typeface="Arial"/>
              <a:buNone/>
            </a:pPr>
            <a:r>
              <a:rPr lang="en-US" sz="1600" b="1" dirty="0">
                <a:solidFill>
                  <a:schemeClr val="dk1"/>
                </a:solidFill>
                <a:latin typeface="Times New Roman" panose="02020603050405020304" pitchFamily="18" charset="0"/>
                <a:cs typeface="Times New Roman" panose="02020603050405020304" pitchFamily="18" charset="0"/>
                <a:sym typeface="Arial"/>
              </a:rPr>
              <a:t>(1 Building Archetypes)</a:t>
            </a:r>
            <a:endParaRPr sz="1600" b="1"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221" name="Google Shape;221;p9"/>
          <p:cNvSpPr/>
          <p:nvPr/>
        </p:nvSpPr>
        <p:spPr>
          <a:xfrm>
            <a:off x="1639306" y="4696318"/>
            <a:ext cx="1241044" cy="1846619"/>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1</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 + F2</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2</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F3 + F4</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3</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F5 + F8</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4</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F6 + F7</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5</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F9</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6</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F10 + F13</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7</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F11</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8</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F12</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9</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F14</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10</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F15</a:t>
            </a:r>
            <a:endParaRPr sz="1600" dirty="0">
              <a:latin typeface="Times New Roman" panose="02020603050405020304" pitchFamily="18" charset="0"/>
              <a:cs typeface="Times New Roman" panose="02020603050405020304" pitchFamily="18" charset="0"/>
            </a:endParaRPr>
          </a:p>
        </p:txBody>
      </p:sp>
      <p:sp>
        <p:nvSpPr>
          <p:cNvPr id="222" name="Google Shape;222;p9"/>
          <p:cNvSpPr/>
          <p:nvPr/>
        </p:nvSpPr>
        <p:spPr>
          <a:xfrm>
            <a:off x="3418002" y="4696318"/>
            <a:ext cx="1112521" cy="194664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1</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 + F2</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2</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F3 + F4</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3</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F5 + F6 + F7 + F8</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4</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F9 + F15</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5</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F10 + F13</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6</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F11 + F12</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7</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F14</a:t>
            </a:r>
            <a:endParaRPr sz="1600" dirty="0">
              <a:latin typeface="Times New Roman" panose="02020603050405020304" pitchFamily="18" charset="0"/>
              <a:cs typeface="Times New Roman" panose="02020603050405020304" pitchFamily="18" charset="0"/>
            </a:endParaRPr>
          </a:p>
        </p:txBody>
      </p:sp>
      <p:sp>
        <p:nvSpPr>
          <p:cNvPr id="223" name="Google Shape;223;p9"/>
          <p:cNvSpPr/>
          <p:nvPr/>
        </p:nvSpPr>
        <p:spPr>
          <a:xfrm>
            <a:off x="5199972" y="4745232"/>
            <a:ext cx="1019556" cy="1769675"/>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1</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 + F2 + F3 + F4</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2</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F5 + F6 + F7 + F8 + F14</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3</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F9 + F10 + F13 + F15</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100" b="1" i="1" u="none" strike="noStrike" cap="none" dirty="0">
                <a:solidFill>
                  <a:schemeClr val="dk1"/>
                </a:solidFill>
                <a:latin typeface="Times New Roman" panose="02020603050405020304" pitchFamily="18" charset="0"/>
                <a:cs typeface="Times New Roman" panose="02020603050405020304" pitchFamily="18" charset="0"/>
                <a:sym typeface="Arial"/>
              </a:rPr>
              <a:t>Plot 4</a:t>
            </a:r>
            <a:r>
              <a:rPr lang="en-US" sz="1100" b="0" i="1" u="none" strike="noStrike" cap="none" dirty="0">
                <a:solidFill>
                  <a:schemeClr val="dk1"/>
                </a:solidFill>
                <a:latin typeface="Times New Roman" panose="02020603050405020304" pitchFamily="18" charset="0"/>
                <a:cs typeface="Times New Roman" panose="02020603050405020304" pitchFamily="18" charset="0"/>
                <a:sym typeface="Arial"/>
              </a:rPr>
              <a:t>: F11 + F12</a:t>
            </a:r>
            <a:endParaRPr sz="1600" dirty="0">
              <a:latin typeface="Times New Roman" panose="02020603050405020304" pitchFamily="18" charset="0"/>
              <a:cs typeface="Times New Roman" panose="02020603050405020304" pitchFamily="18" charset="0"/>
            </a:endParaRPr>
          </a:p>
        </p:txBody>
      </p:sp>
      <p:sp>
        <p:nvSpPr>
          <p:cNvPr id="224" name="Google Shape;224;p9"/>
          <p:cNvSpPr txBox="1"/>
          <p:nvPr/>
        </p:nvSpPr>
        <p:spPr>
          <a:xfrm>
            <a:off x="7101338" y="4854283"/>
            <a:ext cx="991709" cy="144650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1" dirty="0">
                <a:solidFill>
                  <a:schemeClr val="dk1"/>
                </a:solidFill>
                <a:latin typeface="Times New Roman" panose="02020603050405020304" pitchFamily="18" charset="0"/>
                <a:cs typeface="Times New Roman" panose="02020603050405020304" pitchFamily="18" charset="0"/>
                <a:sym typeface="Arial"/>
              </a:rPr>
              <a:t>Plot 1</a:t>
            </a:r>
            <a:r>
              <a:rPr lang="en-US" sz="1100" i="1" dirty="0">
                <a:solidFill>
                  <a:schemeClr val="dk1"/>
                </a:solidFill>
                <a:latin typeface="Times New Roman" panose="02020603050405020304" pitchFamily="18" charset="0"/>
                <a:cs typeface="Times New Roman" panose="02020603050405020304" pitchFamily="18" charset="0"/>
                <a:sym typeface="Arial"/>
              </a:rPr>
              <a:t>: F1 + F2 + F3 + F4</a:t>
            </a:r>
            <a:endParaRPr sz="1600" dirty="0">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None/>
            </a:pPr>
            <a:r>
              <a:rPr lang="en-US" sz="1100" b="1" i="1" dirty="0">
                <a:solidFill>
                  <a:schemeClr val="dk1"/>
                </a:solidFill>
                <a:latin typeface="Times New Roman" panose="02020603050405020304" pitchFamily="18" charset="0"/>
                <a:cs typeface="Times New Roman" panose="02020603050405020304" pitchFamily="18" charset="0"/>
                <a:sym typeface="Arial"/>
              </a:rPr>
              <a:t>Plot 2</a:t>
            </a:r>
            <a:r>
              <a:rPr lang="en-US" sz="1100" i="1" dirty="0">
                <a:solidFill>
                  <a:schemeClr val="dk1"/>
                </a:solidFill>
                <a:latin typeface="Times New Roman" panose="02020603050405020304" pitchFamily="18" charset="0"/>
                <a:cs typeface="Times New Roman" panose="02020603050405020304" pitchFamily="18" charset="0"/>
                <a:sym typeface="Arial"/>
              </a:rPr>
              <a:t>: F5 + F6 + F7 + F8 + F9 + F13 + F14 + F15</a:t>
            </a:r>
            <a:endParaRPr sz="1600" dirty="0">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None/>
            </a:pPr>
            <a:r>
              <a:rPr lang="en-US" sz="1100" b="1" i="1" dirty="0">
                <a:solidFill>
                  <a:schemeClr val="dk1"/>
                </a:solidFill>
                <a:latin typeface="Times New Roman" panose="02020603050405020304" pitchFamily="18" charset="0"/>
                <a:cs typeface="Times New Roman" panose="02020603050405020304" pitchFamily="18" charset="0"/>
                <a:sym typeface="Arial"/>
              </a:rPr>
              <a:t>Plot 3</a:t>
            </a:r>
            <a:r>
              <a:rPr lang="en-US" sz="1100" i="1" dirty="0">
                <a:solidFill>
                  <a:schemeClr val="dk1"/>
                </a:solidFill>
                <a:latin typeface="Times New Roman" panose="02020603050405020304" pitchFamily="18" charset="0"/>
                <a:cs typeface="Times New Roman" panose="02020603050405020304" pitchFamily="18" charset="0"/>
                <a:sym typeface="Arial"/>
              </a:rPr>
              <a:t>: F10 + F11 + F12</a:t>
            </a:r>
            <a:endParaRPr sz="1600" dirty="0">
              <a:latin typeface="Times New Roman" panose="02020603050405020304" pitchFamily="18" charset="0"/>
              <a:cs typeface="Times New Roman" panose="02020603050405020304" pitchFamily="18" charset="0"/>
            </a:endParaRPr>
          </a:p>
        </p:txBody>
      </p:sp>
      <p:sp>
        <p:nvSpPr>
          <p:cNvPr id="225" name="Google Shape;225;p9"/>
          <p:cNvSpPr txBox="1"/>
          <p:nvPr/>
        </p:nvSpPr>
        <p:spPr>
          <a:xfrm>
            <a:off x="8873343" y="4914431"/>
            <a:ext cx="1103187" cy="143881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1" dirty="0">
                <a:solidFill>
                  <a:schemeClr val="dk1"/>
                </a:solidFill>
                <a:latin typeface="Times New Roman" panose="02020603050405020304" pitchFamily="18" charset="0"/>
                <a:cs typeface="Times New Roman" panose="02020603050405020304" pitchFamily="18" charset="0"/>
                <a:sym typeface="Arial"/>
              </a:rPr>
              <a:t>Plot</a:t>
            </a:r>
            <a:r>
              <a:rPr lang="en-US" sz="1100" i="1" dirty="0">
                <a:solidFill>
                  <a:schemeClr val="dk1"/>
                </a:solidFill>
                <a:latin typeface="Times New Roman" panose="02020603050405020304" pitchFamily="18" charset="0"/>
                <a:cs typeface="Times New Roman" panose="02020603050405020304" pitchFamily="18" charset="0"/>
                <a:sym typeface="Arial"/>
              </a:rPr>
              <a:t>:  F1 + F2 + F3 + F4 + F5 + F6 + F7 + F8 + F9 + F10 + F11 + F12 + F13 + F14 + F15</a:t>
            </a:r>
            <a:endParaRPr sz="1600" dirty="0">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None/>
            </a:pPr>
            <a:endParaRPr sz="1100" i="1" dirty="0">
              <a:solidFill>
                <a:schemeClr val="dk1"/>
              </a:solidFill>
              <a:latin typeface="Times New Roman" panose="02020603050405020304" pitchFamily="18" charset="0"/>
              <a:cs typeface="Times New Roman" panose="02020603050405020304" pitchFamily="18" charset="0"/>
              <a:sym typeface="Arial"/>
            </a:endParaRPr>
          </a:p>
        </p:txBody>
      </p:sp>
      <p:sp>
        <p:nvSpPr>
          <p:cNvPr id="226" name="Google Shape;226;p9"/>
          <p:cNvSpPr/>
          <p:nvPr/>
        </p:nvSpPr>
        <p:spPr>
          <a:xfrm>
            <a:off x="1609725" y="4761930"/>
            <a:ext cx="1245193" cy="1710075"/>
          </a:xfrm>
          <a:prstGeom prst="bracketPair">
            <a:avLst/>
          </a:prstGeom>
          <a:noFill/>
          <a:ln w="25400" cap="flat" cmpd="sng">
            <a:solidFill>
              <a:srgbClr val="BF9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7" name="Google Shape;227;p9"/>
          <p:cNvSpPr/>
          <p:nvPr/>
        </p:nvSpPr>
        <p:spPr>
          <a:xfrm>
            <a:off x="3318658" y="4745232"/>
            <a:ext cx="1245193" cy="1710075"/>
          </a:xfrm>
          <a:prstGeom prst="bracketPair">
            <a:avLst/>
          </a:prstGeom>
          <a:noFill/>
          <a:ln w="25400" cap="flat" cmpd="sng">
            <a:solidFill>
              <a:srgbClr val="BF9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8" name="Google Shape;228;p9"/>
          <p:cNvSpPr/>
          <p:nvPr/>
        </p:nvSpPr>
        <p:spPr>
          <a:xfrm>
            <a:off x="5073235" y="4778802"/>
            <a:ext cx="1245193" cy="1710075"/>
          </a:xfrm>
          <a:prstGeom prst="bracketPair">
            <a:avLst/>
          </a:prstGeom>
          <a:noFill/>
          <a:ln w="25400" cap="flat" cmpd="sng">
            <a:solidFill>
              <a:srgbClr val="BF9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29" name="Google Shape;229;p9"/>
          <p:cNvSpPr/>
          <p:nvPr/>
        </p:nvSpPr>
        <p:spPr>
          <a:xfrm>
            <a:off x="6943318" y="4778802"/>
            <a:ext cx="1245193" cy="1710075"/>
          </a:xfrm>
          <a:prstGeom prst="bracketPair">
            <a:avLst/>
          </a:prstGeom>
          <a:noFill/>
          <a:ln w="25400" cap="flat" cmpd="sng">
            <a:solidFill>
              <a:srgbClr val="BF9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30" name="Google Shape;230;p9"/>
          <p:cNvSpPr/>
          <p:nvPr/>
        </p:nvSpPr>
        <p:spPr>
          <a:xfrm>
            <a:off x="8785564" y="4745232"/>
            <a:ext cx="1245193" cy="1710075"/>
          </a:xfrm>
          <a:prstGeom prst="bracketPair">
            <a:avLst/>
          </a:prstGeom>
          <a:noFill/>
          <a:ln w="25400" cap="flat" cmpd="sng">
            <a:solidFill>
              <a:srgbClr val="BF9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2" name="Picture 1" descr="A logo with a wave and a graphic design&#10;&#10;AI-generated content may be incorrect.">
            <a:extLst>
              <a:ext uri="{FF2B5EF4-FFF2-40B4-BE49-F238E27FC236}">
                <a16:creationId xmlns:a16="http://schemas.microsoft.com/office/drawing/2014/main" id="{8311B846-ACE4-48EC-7F36-EEB3AEB6D7FD}"/>
              </a:ext>
            </a:extLst>
          </p:cNvPr>
          <p:cNvPicPr>
            <a:picLocks noChangeAspect="1"/>
          </p:cNvPicPr>
          <p:nvPr/>
        </p:nvPicPr>
        <p:blipFill>
          <a:blip r:embed="rId4"/>
          <a:stretch>
            <a:fillRect/>
          </a:stretch>
        </p:blipFill>
        <p:spPr>
          <a:xfrm>
            <a:off x="7777507" y="895391"/>
            <a:ext cx="2835253" cy="18901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4"/>
                                        </p:tgtEl>
                                        <p:attrNameLst>
                                          <p:attrName>style.visibility</p:attrName>
                                        </p:attrNameLst>
                                      </p:cBhvr>
                                      <p:to>
                                        <p:strVal val="visible"/>
                                      </p:to>
                                    </p:set>
                                    <p:animEffect transition="in" filter="fade">
                                      <p:cBhvr>
                                        <p:cTn id="7" dur="500"/>
                                        <p:tgtEl>
                                          <p:spTgt spid="2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
                                        </p:tgtEl>
                                        <p:attrNameLst>
                                          <p:attrName>style.visibility</p:attrName>
                                        </p:attrNameLst>
                                      </p:cBhvr>
                                      <p:to>
                                        <p:strVal val="visible"/>
                                      </p:to>
                                    </p:set>
                                    <p:animEffect transition="in" filter="fade">
                                      <p:cBhvr>
                                        <p:cTn id="12" dur="1000"/>
                                        <p:tgtEl>
                                          <p:spTgt spid="2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6"/>
                                        </p:tgtEl>
                                        <p:attrNameLst>
                                          <p:attrName>style.visibility</p:attrName>
                                        </p:attrNameLst>
                                      </p:cBhvr>
                                      <p:to>
                                        <p:strVal val="visible"/>
                                      </p:to>
                                    </p:set>
                                    <p:animEffect transition="in" filter="fade">
                                      <p:cBhvr>
                                        <p:cTn id="17" dur="1000"/>
                                        <p:tgtEl>
                                          <p:spTgt spid="216"/>
                                        </p:tgtEl>
                                      </p:cBhvr>
                                    </p:animEffect>
                                  </p:childTnLst>
                                </p:cTn>
                              </p:par>
                              <p:par>
                                <p:cTn id="18" presetID="10" presetClass="entr" presetSubtype="0" fill="hold" nodeType="withEffect">
                                  <p:stCondLst>
                                    <p:cond delay="0"/>
                                  </p:stCondLst>
                                  <p:childTnLst>
                                    <p:set>
                                      <p:cBhvr>
                                        <p:cTn id="19" dur="1" fill="hold">
                                          <p:stCondLst>
                                            <p:cond delay="0"/>
                                          </p:stCondLst>
                                        </p:cTn>
                                        <p:tgtEl>
                                          <p:spTgt spid="226"/>
                                        </p:tgtEl>
                                        <p:attrNameLst>
                                          <p:attrName>style.visibility</p:attrName>
                                        </p:attrNameLst>
                                      </p:cBhvr>
                                      <p:to>
                                        <p:strVal val="visible"/>
                                      </p:to>
                                    </p:set>
                                    <p:animEffect transition="in" filter="fade">
                                      <p:cBhvr>
                                        <p:cTn id="20" dur="1000"/>
                                        <p:tgtEl>
                                          <p:spTgt spid="226"/>
                                        </p:tgtEl>
                                      </p:cBhvr>
                                    </p:animEffect>
                                  </p:childTnLst>
                                </p:cTn>
                              </p:par>
                              <p:par>
                                <p:cTn id="21" presetID="10" presetClass="entr" presetSubtype="0" fill="hold" nodeType="withEffect">
                                  <p:stCondLst>
                                    <p:cond delay="0"/>
                                  </p:stCondLst>
                                  <p:childTnLst>
                                    <p:set>
                                      <p:cBhvr>
                                        <p:cTn id="22" dur="1" fill="hold">
                                          <p:stCondLst>
                                            <p:cond delay="0"/>
                                          </p:stCondLst>
                                        </p:cTn>
                                        <p:tgtEl>
                                          <p:spTgt spid="221"/>
                                        </p:tgtEl>
                                        <p:attrNameLst>
                                          <p:attrName>style.visibility</p:attrName>
                                        </p:attrNameLst>
                                      </p:cBhvr>
                                      <p:to>
                                        <p:strVal val="visible"/>
                                      </p:to>
                                    </p:set>
                                    <p:animEffect transition="in" filter="fade">
                                      <p:cBhvr>
                                        <p:cTn id="23" dur="1000"/>
                                        <p:tgtEl>
                                          <p:spTgt spid="22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22"/>
                                        </p:tgtEl>
                                        <p:attrNameLst>
                                          <p:attrName>style.visibility</p:attrName>
                                        </p:attrNameLst>
                                      </p:cBhvr>
                                      <p:to>
                                        <p:strVal val="visible"/>
                                      </p:to>
                                    </p:set>
                                    <p:animEffect transition="in" filter="fade">
                                      <p:cBhvr>
                                        <p:cTn id="28" dur="1000"/>
                                        <p:tgtEl>
                                          <p:spTgt spid="222"/>
                                        </p:tgtEl>
                                      </p:cBhvr>
                                    </p:animEffect>
                                  </p:childTnLst>
                                </p:cTn>
                              </p:par>
                              <p:par>
                                <p:cTn id="29" presetID="10" presetClass="entr" presetSubtype="0" fill="hold" nodeType="withEffect">
                                  <p:stCondLst>
                                    <p:cond delay="0"/>
                                  </p:stCondLst>
                                  <p:childTnLst>
                                    <p:set>
                                      <p:cBhvr>
                                        <p:cTn id="30" dur="1" fill="hold">
                                          <p:stCondLst>
                                            <p:cond delay="0"/>
                                          </p:stCondLst>
                                        </p:cTn>
                                        <p:tgtEl>
                                          <p:spTgt spid="227"/>
                                        </p:tgtEl>
                                        <p:attrNameLst>
                                          <p:attrName>style.visibility</p:attrName>
                                        </p:attrNameLst>
                                      </p:cBhvr>
                                      <p:to>
                                        <p:strVal val="visible"/>
                                      </p:to>
                                    </p:set>
                                    <p:animEffect transition="in" filter="fade">
                                      <p:cBhvr>
                                        <p:cTn id="31" dur="1000"/>
                                        <p:tgtEl>
                                          <p:spTgt spid="227"/>
                                        </p:tgtEl>
                                      </p:cBhvr>
                                    </p:animEffect>
                                  </p:childTnLst>
                                </p:cTn>
                              </p:par>
                              <p:par>
                                <p:cTn id="32" presetID="10" presetClass="entr" presetSubtype="0" fill="hold" nodeType="withEffect">
                                  <p:stCondLst>
                                    <p:cond delay="0"/>
                                  </p:stCondLst>
                                  <p:childTnLst>
                                    <p:set>
                                      <p:cBhvr>
                                        <p:cTn id="33" dur="1" fill="hold">
                                          <p:stCondLst>
                                            <p:cond delay="0"/>
                                          </p:stCondLst>
                                        </p:cTn>
                                        <p:tgtEl>
                                          <p:spTgt spid="217"/>
                                        </p:tgtEl>
                                        <p:attrNameLst>
                                          <p:attrName>style.visibility</p:attrName>
                                        </p:attrNameLst>
                                      </p:cBhvr>
                                      <p:to>
                                        <p:strVal val="visible"/>
                                      </p:to>
                                    </p:set>
                                    <p:animEffect transition="in" filter="fade">
                                      <p:cBhvr>
                                        <p:cTn id="34" dur="1000"/>
                                        <p:tgtEl>
                                          <p:spTgt spid="2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23"/>
                                        </p:tgtEl>
                                        <p:attrNameLst>
                                          <p:attrName>style.visibility</p:attrName>
                                        </p:attrNameLst>
                                      </p:cBhvr>
                                      <p:to>
                                        <p:strVal val="visible"/>
                                      </p:to>
                                    </p:set>
                                    <p:animEffect transition="in" filter="fade">
                                      <p:cBhvr>
                                        <p:cTn id="39" dur="1000"/>
                                        <p:tgtEl>
                                          <p:spTgt spid="223"/>
                                        </p:tgtEl>
                                      </p:cBhvr>
                                    </p:animEffect>
                                  </p:childTnLst>
                                </p:cTn>
                              </p:par>
                              <p:par>
                                <p:cTn id="40" presetID="10" presetClass="entr" presetSubtype="0" fill="hold" nodeType="withEffect">
                                  <p:stCondLst>
                                    <p:cond delay="0"/>
                                  </p:stCondLst>
                                  <p:childTnLst>
                                    <p:set>
                                      <p:cBhvr>
                                        <p:cTn id="41" dur="1" fill="hold">
                                          <p:stCondLst>
                                            <p:cond delay="0"/>
                                          </p:stCondLst>
                                        </p:cTn>
                                        <p:tgtEl>
                                          <p:spTgt spid="228"/>
                                        </p:tgtEl>
                                        <p:attrNameLst>
                                          <p:attrName>style.visibility</p:attrName>
                                        </p:attrNameLst>
                                      </p:cBhvr>
                                      <p:to>
                                        <p:strVal val="visible"/>
                                      </p:to>
                                    </p:set>
                                    <p:animEffect transition="in" filter="fade">
                                      <p:cBhvr>
                                        <p:cTn id="42" dur="1000"/>
                                        <p:tgtEl>
                                          <p:spTgt spid="228"/>
                                        </p:tgtEl>
                                      </p:cBhvr>
                                    </p:animEffect>
                                  </p:childTnLst>
                                </p:cTn>
                              </p:par>
                              <p:par>
                                <p:cTn id="43" presetID="10" presetClass="entr" presetSubtype="0" fill="hold" nodeType="withEffect">
                                  <p:stCondLst>
                                    <p:cond delay="0"/>
                                  </p:stCondLst>
                                  <p:childTnLst>
                                    <p:set>
                                      <p:cBhvr>
                                        <p:cTn id="44" dur="1" fill="hold">
                                          <p:stCondLst>
                                            <p:cond delay="0"/>
                                          </p:stCondLst>
                                        </p:cTn>
                                        <p:tgtEl>
                                          <p:spTgt spid="218"/>
                                        </p:tgtEl>
                                        <p:attrNameLst>
                                          <p:attrName>style.visibility</p:attrName>
                                        </p:attrNameLst>
                                      </p:cBhvr>
                                      <p:to>
                                        <p:strVal val="visible"/>
                                      </p:to>
                                    </p:set>
                                    <p:animEffect transition="in" filter="fade">
                                      <p:cBhvr>
                                        <p:cTn id="45" dur="1000"/>
                                        <p:tgtEl>
                                          <p:spTgt spid="2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24"/>
                                        </p:tgtEl>
                                        <p:attrNameLst>
                                          <p:attrName>style.visibility</p:attrName>
                                        </p:attrNameLst>
                                      </p:cBhvr>
                                      <p:to>
                                        <p:strVal val="visible"/>
                                      </p:to>
                                    </p:set>
                                    <p:animEffect transition="in" filter="fade">
                                      <p:cBhvr>
                                        <p:cTn id="50" dur="1000"/>
                                        <p:tgtEl>
                                          <p:spTgt spid="224"/>
                                        </p:tgtEl>
                                      </p:cBhvr>
                                    </p:animEffect>
                                  </p:childTnLst>
                                </p:cTn>
                              </p:par>
                              <p:par>
                                <p:cTn id="51" presetID="10" presetClass="entr" presetSubtype="0" fill="hold" nodeType="withEffect">
                                  <p:stCondLst>
                                    <p:cond delay="0"/>
                                  </p:stCondLst>
                                  <p:childTnLst>
                                    <p:set>
                                      <p:cBhvr>
                                        <p:cTn id="52" dur="1" fill="hold">
                                          <p:stCondLst>
                                            <p:cond delay="0"/>
                                          </p:stCondLst>
                                        </p:cTn>
                                        <p:tgtEl>
                                          <p:spTgt spid="229"/>
                                        </p:tgtEl>
                                        <p:attrNameLst>
                                          <p:attrName>style.visibility</p:attrName>
                                        </p:attrNameLst>
                                      </p:cBhvr>
                                      <p:to>
                                        <p:strVal val="visible"/>
                                      </p:to>
                                    </p:set>
                                    <p:animEffect transition="in" filter="fade">
                                      <p:cBhvr>
                                        <p:cTn id="53" dur="1000"/>
                                        <p:tgtEl>
                                          <p:spTgt spid="229"/>
                                        </p:tgtEl>
                                      </p:cBhvr>
                                    </p:animEffect>
                                  </p:childTnLst>
                                </p:cTn>
                              </p:par>
                              <p:par>
                                <p:cTn id="54" presetID="10" presetClass="entr" presetSubtype="0" fill="hold" nodeType="withEffect">
                                  <p:stCondLst>
                                    <p:cond delay="0"/>
                                  </p:stCondLst>
                                  <p:childTnLst>
                                    <p:set>
                                      <p:cBhvr>
                                        <p:cTn id="55" dur="1" fill="hold">
                                          <p:stCondLst>
                                            <p:cond delay="0"/>
                                          </p:stCondLst>
                                        </p:cTn>
                                        <p:tgtEl>
                                          <p:spTgt spid="219"/>
                                        </p:tgtEl>
                                        <p:attrNameLst>
                                          <p:attrName>style.visibility</p:attrName>
                                        </p:attrNameLst>
                                      </p:cBhvr>
                                      <p:to>
                                        <p:strVal val="visible"/>
                                      </p:to>
                                    </p:set>
                                    <p:animEffect transition="in" filter="fade">
                                      <p:cBhvr>
                                        <p:cTn id="56" dur="1000"/>
                                        <p:tgtEl>
                                          <p:spTgt spid="21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25"/>
                                        </p:tgtEl>
                                        <p:attrNameLst>
                                          <p:attrName>style.visibility</p:attrName>
                                        </p:attrNameLst>
                                      </p:cBhvr>
                                      <p:to>
                                        <p:strVal val="visible"/>
                                      </p:to>
                                    </p:set>
                                    <p:animEffect transition="in" filter="fade">
                                      <p:cBhvr>
                                        <p:cTn id="61" dur="1000"/>
                                        <p:tgtEl>
                                          <p:spTgt spid="225"/>
                                        </p:tgtEl>
                                      </p:cBhvr>
                                    </p:animEffect>
                                  </p:childTnLst>
                                </p:cTn>
                              </p:par>
                              <p:par>
                                <p:cTn id="62" presetID="10" presetClass="entr" presetSubtype="0" fill="hold" nodeType="withEffect">
                                  <p:stCondLst>
                                    <p:cond delay="0"/>
                                  </p:stCondLst>
                                  <p:childTnLst>
                                    <p:set>
                                      <p:cBhvr>
                                        <p:cTn id="63" dur="1" fill="hold">
                                          <p:stCondLst>
                                            <p:cond delay="0"/>
                                          </p:stCondLst>
                                        </p:cTn>
                                        <p:tgtEl>
                                          <p:spTgt spid="230"/>
                                        </p:tgtEl>
                                        <p:attrNameLst>
                                          <p:attrName>style.visibility</p:attrName>
                                        </p:attrNameLst>
                                      </p:cBhvr>
                                      <p:to>
                                        <p:strVal val="visible"/>
                                      </p:to>
                                    </p:set>
                                    <p:animEffect transition="in" filter="fade">
                                      <p:cBhvr>
                                        <p:cTn id="64" dur="1000"/>
                                        <p:tgtEl>
                                          <p:spTgt spid="230"/>
                                        </p:tgtEl>
                                      </p:cBhvr>
                                    </p:animEffect>
                                  </p:childTnLst>
                                </p:cTn>
                              </p:par>
                              <p:par>
                                <p:cTn id="65" presetID="10" presetClass="entr" presetSubtype="0" fill="hold" nodeType="withEffect">
                                  <p:stCondLst>
                                    <p:cond delay="0"/>
                                  </p:stCondLst>
                                  <p:childTnLst>
                                    <p:set>
                                      <p:cBhvr>
                                        <p:cTn id="66" dur="1" fill="hold">
                                          <p:stCondLst>
                                            <p:cond delay="0"/>
                                          </p:stCondLst>
                                        </p:cTn>
                                        <p:tgtEl>
                                          <p:spTgt spid="220"/>
                                        </p:tgtEl>
                                        <p:attrNameLst>
                                          <p:attrName>style.visibility</p:attrName>
                                        </p:attrNameLst>
                                      </p:cBhvr>
                                      <p:to>
                                        <p:strVal val="visible"/>
                                      </p:to>
                                    </p:set>
                                    <p:animEffect transition="in" filter="fade">
                                      <p:cBhvr>
                                        <p:cTn id="67" dur="10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16"/>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491" name="Google Shape;491;p16"/>
          <p:cNvSpPr txBox="1"/>
          <p:nvPr/>
        </p:nvSpPr>
        <p:spPr>
          <a:xfrm>
            <a:off x="60010" y="121352"/>
            <a:ext cx="992844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dirty="0">
                <a:solidFill>
                  <a:schemeClr val="lt1"/>
                </a:solidFill>
                <a:latin typeface="Times New Roman" panose="02020603050405020304" pitchFamily="18" charset="0"/>
                <a:cs typeface="Times New Roman" panose="02020603050405020304" pitchFamily="18" charset="0"/>
                <a:sym typeface="Arial"/>
              </a:rPr>
              <a:t>Damage States (DS1 to DS4)</a:t>
            </a:r>
            <a:endParaRPr sz="6600" b="1" dirty="0">
              <a:solidFill>
                <a:schemeClr val="lt1"/>
              </a:solidFill>
              <a:latin typeface="Times New Roman" panose="02020603050405020304" pitchFamily="18" charset="0"/>
              <a:cs typeface="Times New Roman" panose="02020603050405020304" pitchFamily="18" charset="0"/>
              <a:sym typeface="Arial"/>
            </a:endParaRPr>
          </a:p>
        </p:txBody>
      </p:sp>
      <p:cxnSp>
        <p:nvCxnSpPr>
          <p:cNvPr id="492" name="Google Shape;492;p16"/>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493" name="Google Shape;493;p16"/>
          <p:cNvSpPr txBox="1"/>
          <p:nvPr/>
        </p:nvSpPr>
        <p:spPr>
          <a:xfrm>
            <a:off x="11749177" y="6442649"/>
            <a:ext cx="4428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16</a:t>
            </a:r>
            <a:endParaRPr/>
          </a:p>
        </p:txBody>
      </p:sp>
      <p:pic>
        <p:nvPicPr>
          <p:cNvPr id="494" name="Google Shape;494;p16"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graphicFrame>
        <p:nvGraphicFramePr>
          <p:cNvPr id="495" name="Google Shape;495;p16"/>
          <p:cNvGraphicFramePr/>
          <p:nvPr>
            <p:extLst>
              <p:ext uri="{D42A27DB-BD31-4B8C-83A1-F6EECF244321}">
                <p14:modId xmlns:p14="http://schemas.microsoft.com/office/powerpoint/2010/main" val="1475177054"/>
              </p:ext>
            </p:extLst>
          </p:nvPr>
        </p:nvGraphicFramePr>
        <p:xfrm>
          <a:off x="288218" y="1114797"/>
          <a:ext cx="11727400" cy="5253055"/>
        </p:xfrm>
        <a:graphic>
          <a:graphicData uri="http://schemas.openxmlformats.org/drawingml/2006/table">
            <a:tbl>
              <a:tblPr>
                <a:noFill/>
                <a:tableStyleId>{0DE4F863-79B4-44E2-8618-F31045362F7C}</a:tableStyleId>
              </a:tblPr>
              <a:tblGrid>
                <a:gridCol w="606550">
                  <a:extLst>
                    <a:ext uri="{9D8B030D-6E8A-4147-A177-3AD203B41FA5}">
                      <a16:colId xmlns:a16="http://schemas.microsoft.com/office/drawing/2014/main" val="20000"/>
                    </a:ext>
                  </a:extLst>
                </a:gridCol>
                <a:gridCol w="1750750">
                  <a:extLst>
                    <a:ext uri="{9D8B030D-6E8A-4147-A177-3AD203B41FA5}">
                      <a16:colId xmlns:a16="http://schemas.microsoft.com/office/drawing/2014/main" val="20001"/>
                    </a:ext>
                  </a:extLst>
                </a:gridCol>
                <a:gridCol w="6673175">
                  <a:extLst>
                    <a:ext uri="{9D8B030D-6E8A-4147-A177-3AD203B41FA5}">
                      <a16:colId xmlns:a16="http://schemas.microsoft.com/office/drawing/2014/main" val="20002"/>
                    </a:ext>
                  </a:extLst>
                </a:gridCol>
                <a:gridCol w="1393900">
                  <a:extLst>
                    <a:ext uri="{9D8B030D-6E8A-4147-A177-3AD203B41FA5}">
                      <a16:colId xmlns:a16="http://schemas.microsoft.com/office/drawing/2014/main" val="20003"/>
                    </a:ext>
                  </a:extLst>
                </a:gridCol>
                <a:gridCol w="1303025">
                  <a:extLst>
                    <a:ext uri="{9D8B030D-6E8A-4147-A177-3AD203B41FA5}">
                      <a16:colId xmlns:a16="http://schemas.microsoft.com/office/drawing/2014/main" val="20004"/>
                    </a:ext>
                  </a:extLst>
                </a:gridCol>
              </a:tblGrid>
              <a:tr h="503750">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DS Level</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Functionality</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ea typeface="Arial"/>
                          <a:cs typeface="Times New Roman" panose="02020603050405020304" pitchFamily="18" charset="0"/>
                          <a:sym typeface="Arial"/>
                        </a:rPr>
                        <a:t>Description</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Damage Scale</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Damage Ratio</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extLst>
                  <a:ext uri="{0D108BD9-81ED-4DB2-BD59-A6C34878D82A}">
                    <a16:rowId xmlns:a16="http://schemas.microsoft.com/office/drawing/2014/main" val="10000"/>
                  </a:ext>
                </a:extLst>
              </a:tr>
              <a:tr h="1289200">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DS1</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Limited Occupancy</a:t>
                      </a:r>
                      <a:endParaRPr sz="1600" b="1"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just" rtl="0">
                        <a:spcBef>
                          <a:spcPts val="0"/>
                        </a:spcBef>
                        <a:spcAft>
                          <a:spcPts val="0"/>
                        </a:spcAft>
                        <a:buNone/>
                      </a:pPr>
                      <a:r>
                        <a:rPr lang="en-US" sz="1600" i="1" u="none" strike="noStrike" cap="none">
                          <a:latin typeface="Times New Roman" panose="02020603050405020304" pitchFamily="18" charset="0"/>
                          <a:ea typeface="Arial"/>
                          <a:cs typeface="Times New Roman" panose="02020603050405020304" pitchFamily="18" charset="0"/>
                          <a:sym typeface="Arial"/>
                        </a:rPr>
                        <a:t>Water touches the floor joists, up to minor water entering the building. </a:t>
                      </a:r>
                      <a:r>
                        <a:rPr lang="en-US" sz="1600" b="1" i="1" u="none" strike="noStrike" cap="none">
                          <a:latin typeface="Times New Roman" panose="02020603050405020304" pitchFamily="18" charset="0"/>
                          <a:ea typeface="Arial"/>
                          <a:cs typeface="Times New Roman" panose="02020603050405020304" pitchFamily="18" charset="0"/>
                          <a:sym typeface="Arial"/>
                        </a:rPr>
                        <a:t>Damage to carpets, pads, baseboards, and flooring. </a:t>
                      </a:r>
                      <a:r>
                        <a:rPr lang="en-US" sz="1600" i="1" u="none" strike="noStrike" cap="none">
                          <a:latin typeface="Times New Roman" panose="02020603050405020304" pitchFamily="18" charset="0"/>
                          <a:ea typeface="Arial"/>
                          <a:cs typeface="Times New Roman" panose="02020603050405020304" pitchFamily="18" charset="0"/>
                          <a:sym typeface="Arial"/>
                        </a:rPr>
                        <a:t>Complete damage to the garage interior is below the first-floor elevation. No major mold or sewer backup.</a:t>
                      </a:r>
                      <a:endParaRPr i="1">
                        <a:latin typeface="Times New Roman" panose="02020603050405020304" pitchFamily="18" charset="0"/>
                        <a:cs typeface="Times New Roman" panose="02020603050405020304" pitchFamily="18" charset="0"/>
                      </a:endParaRPr>
                    </a:p>
                  </a:txBody>
                  <a:tcPr marL="35250" marR="35250" marT="17625" marB="17625" anchor="ctr"/>
                </a:tc>
                <a:tc>
                  <a:txBody>
                    <a:bodyPr/>
                    <a:lstStyle/>
                    <a:p>
                      <a:pPr marL="0" marR="0" lvl="0" indent="0" algn="ctr" rtl="0">
                        <a:spcBef>
                          <a:spcPts val="0"/>
                        </a:spcBef>
                        <a:spcAft>
                          <a:spcPts val="0"/>
                        </a:spcAft>
                        <a:buNone/>
                      </a:pPr>
                      <a:r>
                        <a:rPr lang="en-US" sz="1600" i="1" u="none" strike="noStrike" cap="none">
                          <a:latin typeface="Times New Roman" panose="02020603050405020304" pitchFamily="18" charset="0"/>
                          <a:cs typeface="Times New Roman" panose="02020603050405020304" pitchFamily="18" charset="0"/>
                        </a:rPr>
                        <a:t>Slight</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i="1" u="none" strike="noStrike" cap="none">
                          <a:latin typeface="Times New Roman" panose="02020603050405020304" pitchFamily="18" charset="0"/>
                          <a:cs typeface="Times New Roman" panose="02020603050405020304" pitchFamily="18" charset="0"/>
                        </a:rPr>
                        <a:t>0.03 – 0.15</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extLst>
                  <a:ext uri="{0D108BD9-81ED-4DB2-BD59-A6C34878D82A}">
                    <a16:rowId xmlns:a16="http://schemas.microsoft.com/office/drawing/2014/main" val="10001"/>
                  </a:ext>
                </a:extLst>
              </a:tr>
              <a:tr h="1208450">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DS2</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Restricted Occupancy</a:t>
                      </a:r>
                      <a:endParaRPr sz="1600" b="1"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i="1" u="none" strike="noStrike" cap="none" dirty="0">
                          <a:latin typeface="Times New Roman" panose="02020603050405020304" pitchFamily="18" charset="0"/>
                          <a:ea typeface="Arial"/>
                          <a:cs typeface="Times New Roman" panose="02020603050405020304" pitchFamily="18" charset="0"/>
                          <a:sym typeface="Arial"/>
                        </a:rPr>
                        <a:t>Partial damage to drywalls, electrical components (base outlets), water heater, furnace. Complete damage to major equipment, appliances, and furniture on the first floor. Significant damage to </a:t>
                      </a:r>
                      <a:r>
                        <a:rPr lang="en-US" sz="1600" b="1" i="1" u="none" strike="noStrike" cap="none" dirty="0">
                          <a:latin typeface="Times New Roman" panose="02020603050405020304" pitchFamily="18" charset="0"/>
                          <a:ea typeface="Arial"/>
                          <a:cs typeface="Times New Roman" panose="02020603050405020304" pitchFamily="18" charset="0"/>
                          <a:sym typeface="Arial"/>
                        </a:rPr>
                        <a:t>the lower bathroom and kitchen cabinets. </a:t>
                      </a:r>
                      <a:r>
                        <a:rPr lang="en-US" sz="1600" i="1" u="none" strike="noStrike" cap="none" dirty="0">
                          <a:latin typeface="Times New Roman" panose="02020603050405020304" pitchFamily="18" charset="0"/>
                          <a:ea typeface="Arial"/>
                          <a:cs typeface="Times New Roman" panose="02020603050405020304" pitchFamily="18" charset="0"/>
                          <a:sym typeface="Arial"/>
                        </a:rPr>
                        <a:t>Potential for major sewer backup and mold issues.</a:t>
                      </a:r>
                      <a:endParaRPr i="1" dirty="0">
                        <a:latin typeface="Times New Roman" panose="02020603050405020304" pitchFamily="18" charset="0"/>
                        <a:cs typeface="Times New Roman" panose="02020603050405020304" pitchFamily="18" charset="0"/>
                      </a:endParaRPr>
                    </a:p>
                  </a:txBody>
                  <a:tcPr marL="35250" marR="35250" marT="17625" marB="17625" anchor="ctr"/>
                </a:tc>
                <a:tc>
                  <a:txBody>
                    <a:bodyPr/>
                    <a:lstStyle/>
                    <a:p>
                      <a:pPr marL="0" marR="0" lvl="0" indent="0" algn="ctr" rtl="0">
                        <a:spcBef>
                          <a:spcPts val="0"/>
                        </a:spcBef>
                        <a:spcAft>
                          <a:spcPts val="0"/>
                        </a:spcAft>
                        <a:buNone/>
                      </a:pPr>
                      <a:r>
                        <a:rPr lang="en-US" sz="1600" i="1" u="none" strike="noStrike" cap="none">
                          <a:latin typeface="Times New Roman" panose="02020603050405020304" pitchFamily="18" charset="0"/>
                          <a:cs typeface="Times New Roman" panose="02020603050405020304" pitchFamily="18" charset="0"/>
                        </a:rPr>
                        <a:t>Moderate</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i="1" u="none" strike="noStrike" cap="none">
                          <a:latin typeface="Times New Roman" panose="02020603050405020304" pitchFamily="18" charset="0"/>
                          <a:cs typeface="Times New Roman" panose="02020603050405020304" pitchFamily="18" charset="0"/>
                        </a:rPr>
                        <a:t>0.15 – 0.5</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extLst>
                  <a:ext uri="{0D108BD9-81ED-4DB2-BD59-A6C34878D82A}">
                    <a16:rowId xmlns:a16="http://schemas.microsoft.com/office/drawing/2014/main" val="10002"/>
                  </a:ext>
                </a:extLst>
              </a:tr>
              <a:tr h="1073275">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DS3</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Restricted Use</a:t>
                      </a:r>
                      <a:endParaRPr sz="1600" b="1"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i="1" u="none" strike="noStrike" cap="none">
                          <a:latin typeface="Times New Roman" panose="02020603050405020304" pitchFamily="18" charset="0"/>
                          <a:ea typeface="Arial"/>
                          <a:cs typeface="Times New Roman" panose="02020603050405020304" pitchFamily="18" charset="0"/>
                          <a:sym typeface="Arial"/>
                        </a:rPr>
                        <a:t>Major damage to the non-structural components and interiors within the whole building. Includes </a:t>
                      </a:r>
                      <a:r>
                        <a:rPr lang="en-US" sz="1600" b="1" i="1" u="none" strike="noStrike" cap="none">
                          <a:latin typeface="Times New Roman" panose="02020603050405020304" pitchFamily="18" charset="0"/>
                          <a:ea typeface="Arial"/>
                          <a:cs typeface="Times New Roman" panose="02020603050405020304" pitchFamily="18" charset="0"/>
                          <a:sym typeface="Arial"/>
                        </a:rPr>
                        <a:t>drywall damage to upper stories and destruction of electrical switches, mid outlets, bathroom, and kitchen components</a:t>
                      </a:r>
                      <a:r>
                        <a:rPr lang="en-US" sz="1600" i="1" u="none" strike="noStrike" cap="none">
                          <a:latin typeface="Times New Roman" panose="02020603050405020304" pitchFamily="18" charset="0"/>
                          <a:ea typeface="Arial"/>
                          <a:cs typeface="Times New Roman" panose="02020603050405020304" pitchFamily="18" charset="0"/>
                          <a:sym typeface="Arial"/>
                        </a:rPr>
                        <a:t>. Major sewer backup with significant mold issues.</a:t>
                      </a:r>
                      <a:endParaRPr i="1">
                        <a:latin typeface="Times New Roman" panose="02020603050405020304" pitchFamily="18" charset="0"/>
                        <a:cs typeface="Times New Roman" panose="02020603050405020304" pitchFamily="18" charset="0"/>
                      </a:endParaRPr>
                    </a:p>
                  </a:txBody>
                  <a:tcPr marL="35250" marR="35250" marT="17625" marB="17625" anchor="ctr"/>
                </a:tc>
                <a:tc>
                  <a:txBody>
                    <a:bodyPr/>
                    <a:lstStyle/>
                    <a:p>
                      <a:pPr marL="0" marR="0" lvl="0" indent="0" algn="ctr" rtl="0">
                        <a:spcBef>
                          <a:spcPts val="0"/>
                        </a:spcBef>
                        <a:spcAft>
                          <a:spcPts val="0"/>
                        </a:spcAft>
                        <a:buNone/>
                      </a:pPr>
                      <a:r>
                        <a:rPr lang="en-US" sz="1600" i="1" u="none" strike="noStrike" cap="none">
                          <a:latin typeface="Times New Roman" panose="02020603050405020304" pitchFamily="18" charset="0"/>
                          <a:cs typeface="Times New Roman" panose="02020603050405020304" pitchFamily="18" charset="0"/>
                        </a:rPr>
                        <a:t>Extensive</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i="1" u="none" strike="noStrike" cap="none">
                          <a:latin typeface="Times New Roman" panose="02020603050405020304" pitchFamily="18" charset="0"/>
                          <a:cs typeface="Times New Roman" panose="02020603050405020304" pitchFamily="18" charset="0"/>
                        </a:rPr>
                        <a:t>0.5 – 0.7</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extLst>
                  <a:ext uri="{0D108BD9-81ED-4DB2-BD59-A6C34878D82A}">
                    <a16:rowId xmlns:a16="http://schemas.microsoft.com/office/drawing/2014/main" val="10003"/>
                  </a:ext>
                </a:extLst>
              </a:tr>
              <a:tr h="1159200">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DS4</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b="1" i="1" u="none" strike="noStrike" cap="none">
                          <a:latin typeface="Times New Roman" panose="02020603050405020304" pitchFamily="18" charset="0"/>
                          <a:cs typeface="Times New Roman" panose="02020603050405020304" pitchFamily="18" charset="0"/>
                        </a:rPr>
                        <a:t>Restricted Entry</a:t>
                      </a:r>
                      <a:endParaRPr sz="1600" b="1"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i="1" u="none" strike="noStrike" cap="none">
                          <a:latin typeface="Times New Roman" panose="02020603050405020304" pitchFamily="18" charset="0"/>
                          <a:ea typeface="Arial"/>
                          <a:cs typeface="Times New Roman" panose="02020603050405020304" pitchFamily="18" charset="0"/>
                          <a:sym typeface="Arial"/>
                        </a:rPr>
                        <a:t>Significant structural damage, including studs, trusses, and joists. Non-structural components destroyed, </a:t>
                      </a:r>
                      <a:r>
                        <a:rPr lang="en-US" sz="1600" b="1" i="1" u="none" strike="noStrike" cap="none">
                          <a:latin typeface="Times New Roman" panose="02020603050405020304" pitchFamily="18" charset="0"/>
                          <a:ea typeface="Arial"/>
                          <a:cs typeface="Times New Roman" panose="02020603050405020304" pitchFamily="18" charset="0"/>
                          <a:sym typeface="Arial"/>
                        </a:rPr>
                        <a:t>including drywall, appliances, cabinets, furniture, and more</a:t>
                      </a:r>
                      <a:r>
                        <a:rPr lang="en-US" sz="1600" i="1" u="none" strike="noStrike" cap="none">
                          <a:latin typeface="Times New Roman" panose="02020603050405020304" pitchFamily="18" charset="0"/>
                          <a:ea typeface="Arial"/>
                          <a:cs typeface="Times New Roman" panose="02020603050405020304" pitchFamily="18" charset="0"/>
                          <a:sym typeface="Arial"/>
                        </a:rPr>
                        <a:t>. Damage to rooftop units. The foundation could be compromised and may need to be demolished or replaced.</a:t>
                      </a:r>
                      <a:endParaRPr i="1">
                        <a:latin typeface="Times New Roman" panose="02020603050405020304" pitchFamily="18" charset="0"/>
                        <a:cs typeface="Times New Roman" panose="02020603050405020304" pitchFamily="18" charset="0"/>
                      </a:endParaRPr>
                    </a:p>
                  </a:txBody>
                  <a:tcPr marL="35250" marR="35250" marT="17625" marB="17625" anchor="ctr"/>
                </a:tc>
                <a:tc>
                  <a:txBody>
                    <a:bodyPr/>
                    <a:lstStyle/>
                    <a:p>
                      <a:pPr marL="0" marR="0" lvl="0" indent="0" algn="ctr" rtl="0">
                        <a:spcBef>
                          <a:spcPts val="0"/>
                        </a:spcBef>
                        <a:spcAft>
                          <a:spcPts val="0"/>
                        </a:spcAft>
                        <a:buNone/>
                      </a:pPr>
                      <a:r>
                        <a:rPr lang="en-US" sz="1600" i="1" u="none" strike="noStrike" cap="none">
                          <a:latin typeface="Times New Roman" panose="02020603050405020304" pitchFamily="18" charset="0"/>
                          <a:cs typeface="Times New Roman" panose="02020603050405020304" pitchFamily="18" charset="0"/>
                        </a:rPr>
                        <a:t>Complete</a:t>
                      </a:r>
                      <a:endParaRPr sz="1600" i="1" u="none" strike="noStrike" cap="none">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tc>
                  <a:txBody>
                    <a:bodyPr/>
                    <a:lstStyle/>
                    <a:p>
                      <a:pPr marL="0" marR="0" lvl="0" indent="0" algn="ctr" rtl="0">
                        <a:spcBef>
                          <a:spcPts val="0"/>
                        </a:spcBef>
                        <a:spcAft>
                          <a:spcPts val="0"/>
                        </a:spcAft>
                        <a:buNone/>
                      </a:pPr>
                      <a:r>
                        <a:rPr lang="en-US" sz="1600" i="1" u="none" strike="noStrike" cap="none" dirty="0">
                          <a:latin typeface="Times New Roman" panose="02020603050405020304" pitchFamily="18" charset="0"/>
                          <a:cs typeface="Times New Roman" panose="02020603050405020304" pitchFamily="18" charset="0"/>
                        </a:rPr>
                        <a:t>0.7 – 1.0</a:t>
                      </a:r>
                      <a:endParaRPr sz="1600" i="1" u="none" strike="noStrike" cap="none" dirty="0">
                        <a:latin typeface="Times New Roman" panose="02020603050405020304" pitchFamily="18" charset="0"/>
                        <a:ea typeface="Arial"/>
                        <a:cs typeface="Times New Roman" panose="02020603050405020304" pitchFamily="18" charset="0"/>
                        <a:sym typeface="Arial"/>
                      </a:endParaRPr>
                    </a:p>
                  </a:txBody>
                  <a:tcPr marL="35250" marR="35250" marT="17625" marB="17625" anchor="ct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4"/>
                                        </p:tgtEl>
                                        <p:attrNameLst>
                                          <p:attrName>style.visibility</p:attrName>
                                        </p:attrNameLst>
                                      </p:cBhvr>
                                      <p:to>
                                        <p:strVal val="visible"/>
                                      </p:to>
                                    </p:set>
                                    <p:animEffect transition="in" filter="fade">
                                      <p:cBhvr>
                                        <p:cTn id="7" dur="500"/>
                                        <p:tgtEl>
                                          <p:spTgt spid="494"/>
                                        </p:tgtEl>
                                      </p:cBhvr>
                                    </p:animEffect>
                                  </p:childTnLst>
                                </p:cTn>
                              </p:par>
                              <p:par>
                                <p:cTn id="8" presetID="10" presetClass="entr" presetSubtype="0" fill="hold" nodeType="withEffect">
                                  <p:stCondLst>
                                    <p:cond delay="0"/>
                                  </p:stCondLst>
                                  <p:childTnLst>
                                    <p:set>
                                      <p:cBhvr>
                                        <p:cTn id="9" dur="1" fill="hold">
                                          <p:stCondLst>
                                            <p:cond delay="0"/>
                                          </p:stCondLst>
                                        </p:cTn>
                                        <p:tgtEl>
                                          <p:spTgt spid="495"/>
                                        </p:tgtEl>
                                        <p:attrNameLst>
                                          <p:attrName>style.visibility</p:attrName>
                                        </p:attrNameLst>
                                      </p:cBhvr>
                                      <p:to>
                                        <p:strVal val="visible"/>
                                      </p:to>
                                    </p:set>
                                    <p:animEffect transition="in" filter="fade">
                                      <p:cBhvr>
                                        <p:cTn id="10" dur="1000"/>
                                        <p:tgtEl>
                                          <p:spTgt spid="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17"/>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501" name="Google Shape;501;p17"/>
          <p:cNvSpPr txBox="1"/>
          <p:nvPr/>
        </p:nvSpPr>
        <p:spPr>
          <a:xfrm>
            <a:off x="60010" y="121352"/>
            <a:ext cx="9928447" cy="584735"/>
          </a:xfrm>
          <a:prstGeom prst="rect">
            <a:avLst/>
          </a:prstGeom>
          <a:noFill/>
          <a:ln>
            <a:noFill/>
          </a:ln>
        </p:spPr>
        <p:txBody>
          <a:bodyPr spcFirstLastPara="1" wrap="square" lIns="91425" tIns="45700" rIns="91425" bIns="45700" anchor="t" anchorCtr="0">
            <a:spAutoFit/>
          </a:bodyPr>
          <a:lstStyle/>
          <a:p>
            <a:pPr lvl="0"/>
            <a:r>
              <a:rPr lang="en-US" sz="3200" b="1" dirty="0">
                <a:solidFill>
                  <a:schemeClr val="bg1"/>
                </a:solidFill>
                <a:latin typeface="Times New Roman" panose="02020603050405020304" pitchFamily="18" charset="0"/>
                <a:cs typeface="Times New Roman" panose="02020603050405020304" pitchFamily="18" charset="0"/>
              </a:rPr>
              <a:t>Market &amp; Audience</a:t>
            </a:r>
            <a:endParaRPr b="1" dirty="0">
              <a:solidFill>
                <a:schemeClr val="bg1"/>
              </a:solidFill>
              <a:latin typeface="Times New Roman" panose="02020603050405020304" pitchFamily="18" charset="0"/>
              <a:cs typeface="Times New Roman" panose="02020603050405020304" pitchFamily="18" charset="0"/>
            </a:endParaRPr>
          </a:p>
        </p:txBody>
      </p:sp>
      <p:cxnSp>
        <p:nvCxnSpPr>
          <p:cNvPr id="502" name="Google Shape;502;p17"/>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503" name="Google Shape;503;p17"/>
          <p:cNvSpPr txBox="1"/>
          <p:nvPr/>
        </p:nvSpPr>
        <p:spPr>
          <a:xfrm>
            <a:off x="11749177" y="6442649"/>
            <a:ext cx="4428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17</a:t>
            </a:r>
            <a:endParaRPr/>
          </a:p>
        </p:txBody>
      </p:sp>
      <p:pic>
        <p:nvPicPr>
          <p:cNvPr id="504" name="Google Shape;504;p17"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graphicFrame>
        <p:nvGraphicFramePr>
          <p:cNvPr id="27" name="Table 26">
            <a:extLst>
              <a:ext uri="{FF2B5EF4-FFF2-40B4-BE49-F238E27FC236}">
                <a16:creationId xmlns:a16="http://schemas.microsoft.com/office/drawing/2014/main" id="{4610E30A-2DF6-5D54-570D-14EEAB54260D}"/>
              </a:ext>
            </a:extLst>
          </p:cNvPr>
          <p:cNvGraphicFramePr>
            <a:graphicFrameLocks noGrp="1"/>
          </p:cNvGraphicFramePr>
          <p:nvPr>
            <p:extLst>
              <p:ext uri="{D42A27DB-BD31-4B8C-83A1-F6EECF244321}">
                <p14:modId xmlns:p14="http://schemas.microsoft.com/office/powerpoint/2010/main" val="1040887929"/>
              </p:ext>
            </p:extLst>
          </p:nvPr>
        </p:nvGraphicFramePr>
        <p:xfrm>
          <a:off x="838199" y="2402174"/>
          <a:ext cx="10515600" cy="1889760"/>
        </p:xfrm>
        <a:graphic>
          <a:graphicData uri="http://schemas.openxmlformats.org/drawingml/2006/table">
            <a:tbl>
              <a:tblPr/>
              <a:tblGrid>
                <a:gridCol w="3505200">
                  <a:extLst>
                    <a:ext uri="{9D8B030D-6E8A-4147-A177-3AD203B41FA5}">
                      <a16:colId xmlns:a16="http://schemas.microsoft.com/office/drawing/2014/main" val="1830274544"/>
                    </a:ext>
                  </a:extLst>
                </a:gridCol>
                <a:gridCol w="3505200">
                  <a:extLst>
                    <a:ext uri="{9D8B030D-6E8A-4147-A177-3AD203B41FA5}">
                      <a16:colId xmlns:a16="http://schemas.microsoft.com/office/drawing/2014/main" val="1160677156"/>
                    </a:ext>
                  </a:extLst>
                </a:gridCol>
                <a:gridCol w="3505200">
                  <a:extLst>
                    <a:ext uri="{9D8B030D-6E8A-4147-A177-3AD203B41FA5}">
                      <a16:colId xmlns:a16="http://schemas.microsoft.com/office/drawing/2014/main" val="3857578683"/>
                    </a:ext>
                  </a:extLst>
                </a:gridCol>
              </a:tblGrid>
              <a:tr h="0">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Segment</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Value</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Target</a:t>
                      </a:r>
                    </a:p>
                  </a:txBody>
                  <a:tcPr anchor="ctr">
                    <a:lnL>
                      <a:noFill/>
                    </a:lnL>
                    <a:lnR>
                      <a:noFill/>
                    </a:lnR>
                    <a:lnT>
                      <a:noFill/>
                    </a:lnT>
                    <a:lnB>
                      <a:noFill/>
                    </a:lnB>
                    <a:noFill/>
                  </a:tcPr>
                </a:tc>
                <a:extLst>
                  <a:ext uri="{0D108BD9-81ED-4DB2-BD59-A6C34878D82A}">
                    <a16:rowId xmlns:a16="http://schemas.microsoft.com/office/drawing/2014/main" val="2610280761"/>
                  </a:ext>
                </a:extLst>
              </a:tr>
              <a:tr h="0">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City Governments</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$10M+ in flood mapping contracts</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Miami-Dade, Fort Lauderdale</a:t>
                      </a:r>
                    </a:p>
                  </a:txBody>
                  <a:tcPr anchor="ctr">
                    <a:lnL>
                      <a:noFill/>
                    </a:lnL>
                    <a:lnR>
                      <a:noFill/>
                    </a:lnR>
                    <a:lnT>
                      <a:noFill/>
                    </a:lnT>
                    <a:lnB>
                      <a:noFill/>
                    </a:lnB>
                    <a:noFill/>
                  </a:tcPr>
                </a:tc>
                <a:extLst>
                  <a:ext uri="{0D108BD9-81ED-4DB2-BD59-A6C34878D82A}">
                    <a16:rowId xmlns:a16="http://schemas.microsoft.com/office/drawing/2014/main" val="242581261"/>
                  </a:ext>
                </a:extLst>
              </a:tr>
              <a:tr h="0">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Real Estate / Insurance</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$1.5B+ market</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Developers &amp; agents</a:t>
                      </a:r>
                    </a:p>
                  </a:txBody>
                  <a:tcPr anchor="ctr">
                    <a:lnL>
                      <a:noFill/>
                    </a:lnL>
                    <a:lnR>
                      <a:noFill/>
                    </a:lnR>
                    <a:lnT>
                      <a:noFill/>
                    </a:lnT>
                    <a:lnB>
                      <a:noFill/>
                    </a:lnB>
                    <a:noFill/>
                  </a:tcPr>
                </a:tc>
                <a:extLst>
                  <a:ext uri="{0D108BD9-81ED-4DB2-BD59-A6C34878D82A}">
                    <a16:rowId xmlns:a16="http://schemas.microsoft.com/office/drawing/2014/main" val="1780593072"/>
                  </a:ext>
                </a:extLst>
              </a:tr>
              <a:tr h="0">
                <a:tc>
                  <a:txBody>
                    <a:bodyPr/>
                    <a:lstStyle/>
                    <a:p>
                      <a:pPr marL="342900" indent="-342900" algn="ct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Residents / NGOs</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Awareness + safety</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General users</a:t>
                      </a:r>
                    </a:p>
                  </a:txBody>
                  <a:tcPr anchor="ctr">
                    <a:lnL>
                      <a:noFill/>
                    </a:lnL>
                    <a:lnR>
                      <a:noFill/>
                    </a:lnR>
                    <a:lnT>
                      <a:noFill/>
                    </a:lnT>
                    <a:lnB>
                      <a:noFill/>
                    </a:lnB>
                    <a:noFill/>
                  </a:tcPr>
                </a:tc>
                <a:extLst>
                  <a:ext uri="{0D108BD9-81ED-4DB2-BD59-A6C34878D82A}">
                    <a16:rowId xmlns:a16="http://schemas.microsoft.com/office/drawing/2014/main" val="919633920"/>
                  </a:ext>
                </a:extLst>
              </a:tr>
            </a:tbl>
          </a:graphicData>
        </a:graphic>
      </p:graphicFrame>
      <p:pic>
        <p:nvPicPr>
          <p:cNvPr id="28" name="Picture 27" descr="A logo with a wave and a graphic design&#10;&#10;AI-generated content may be incorrect.">
            <a:extLst>
              <a:ext uri="{FF2B5EF4-FFF2-40B4-BE49-F238E27FC236}">
                <a16:creationId xmlns:a16="http://schemas.microsoft.com/office/drawing/2014/main" id="{8E8E51CD-4EAA-FDBE-8FD7-703352914B67}"/>
              </a:ext>
            </a:extLst>
          </p:cNvPr>
          <p:cNvPicPr>
            <a:picLocks noChangeAspect="1"/>
          </p:cNvPicPr>
          <p:nvPr/>
        </p:nvPicPr>
        <p:blipFill>
          <a:blip r:embed="rId4"/>
          <a:stretch>
            <a:fillRect/>
          </a:stretch>
        </p:blipFill>
        <p:spPr>
          <a:xfrm>
            <a:off x="176742" y="4330625"/>
            <a:ext cx="3597590" cy="23983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04"/>
                                        </p:tgtEl>
                                        <p:attrNameLst>
                                          <p:attrName>style.visibility</p:attrName>
                                        </p:attrNameLst>
                                      </p:cBhvr>
                                      <p:to>
                                        <p:strVal val="visible"/>
                                      </p:to>
                                    </p:set>
                                    <p:animEffect transition="in" filter="fade">
                                      <p:cBhvr>
                                        <p:cTn id="7" dur="500"/>
                                        <p:tgtEl>
                                          <p:spTgt spid="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18"/>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513" name="Google Shape;513;p18"/>
          <p:cNvSpPr txBox="1"/>
          <p:nvPr/>
        </p:nvSpPr>
        <p:spPr>
          <a:xfrm>
            <a:off x="60010" y="121352"/>
            <a:ext cx="10729133" cy="584735"/>
          </a:xfrm>
          <a:prstGeom prst="rect">
            <a:avLst/>
          </a:prstGeom>
          <a:noFill/>
          <a:ln>
            <a:noFill/>
          </a:ln>
        </p:spPr>
        <p:txBody>
          <a:bodyPr spcFirstLastPara="1" wrap="square" lIns="91425" tIns="45700" rIns="91425" bIns="45700" anchor="t" anchorCtr="0">
            <a:spAutoFit/>
          </a:bodyPr>
          <a:lstStyle/>
          <a:p>
            <a:pPr lvl="0">
              <a:buClr>
                <a:schemeClr val="lt1"/>
              </a:buClr>
              <a:buSzPts val="3200"/>
            </a:pPr>
            <a:r>
              <a:rPr lang="en-US" sz="3200" b="1" dirty="0">
                <a:solidFill>
                  <a:schemeClr val="bg1"/>
                </a:solidFill>
                <a:latin typeface="Times New Roman" panose="02020603050405020304" pitchFamily="18" charset="0"/>
                <a:cs typeface="Times New Roman" panose="02020603050405020304" pitchFamily="18" charset="0"/>
              </a:rPr>
              <a:t>Business Model</a:t>
            </a:r>
            <a:endParaRPr b="1" dirty="0">
              <a:solidFill>
                <a:schemeClr val="bg1"/>
              </a:solidFill>
              <a:latin typeface="Times New Roman" panose="02020603050405020304" pitchFamily="18" charset="0"/>
              <a:cs typeface="Times New Roman" panose="02020603050405020304" pitchFamily="18" charset="0"/>
            </a:endParaRPr>
          </a:p>
        </p:txBody>
      </p:sp>
      <p:cxnSp>
        <p:nvCxnSpPr>
          <p:cNvPr id="514" name="Google Shape;514;p18"/>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pic>
        <p:nvPicPr>
          <p:cNvPr id="515" name="Google Shape;515;p18"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sp>
        <p:nvSpPr>
          <p:cNvPr id="516" name="Google Shape;516;p18"/>
          <p:cNvSpPr txBox="1"/>
          <p:nvPr/>
        </p:nvSpPr>
        <p:spPr>
          <a:xfrm>
            <a:off x="11659334" y="6472005"/>
            <a:ext cx="514675" cy="36932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18</a:t>
            </a:r>
            <a:endParaRPr/>
          </a:p>
        </p:txBody>
      </p:sp>
      <p:cxnSp>
        <p:nvCxnSpPr>
          <p:cNvPr id="519" name="Google Shape;519;p18"/>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graphicFrame>
        <p:nvGraphicFramePr>
          <p:cNvPr id="2" name="Table 1">
            <a:extLst>
              <a:ext uri="{FF2B5EF4-FFF2-40B4-BE49-F238E27FC236}">
                <a16:creationId xmlns:a16="http://schemas.microsoft.com/office/drawing/2014/main" id="{F5E32255-7DEE-E8E8-1EBE-716FCEB91480}"/>
              </a:ext>
            </a:extLst>
          </p:cNvPr>
          <p:cNvGraphicFramePr>
            <a:graphicFrameLocks noGrp="1"/>
          </p:cNvGraphicFramePr>
          <p:nvPr>
            <p:extLst>
              <p:ext uri="{D42A27DB-BD31-4B8C-83A1-F6EECF244321}">
                <p14:modId xmlns:p14="http://schemas.microsoft.com/office/powerpoint/2010/main" val="112767744"/>
              </p:ext>
            </p:extLst>
          </p:nvPr>
        </p:nvGraphicFramePr>
        <p:xfrm>
          <a:off x="886780" y="2214664"/>
          <a:ext cx="10515600" cy="1889760"/>
        </p:xfrm>
        <a:graphic>
          <a:graphicData uri="http://schemas.openxmlformats.org/drawingml/2006/table">
            <a:tbl>
              <a:tblPr/>
              <a:tblGrid>
                <a:gridCol w="3505200">
                  <a:extLst>
                    <a:ext uri="{9D8B030D-6E8A-4147-A177-3AD203B41FA5}">
                      <a16:colId xmlns:a16="http://schemas.microsoft.com/office/drawing/2014/main" val="3870983802"/>
                    </a:ext>
                  </a:extLst>
                </a:gridCol>
                <a:gridCol w="3505200">
                  <a:extLst>
                    <a:ext uri="{9D8B030D-6E8A-4147-A177-3AD203B41FA5}">
                      <a16:colId xmlns:a16="http://schemas.microsoft.com/office/drawing/2014/main" val="3204940609"/>
                    </a:ext>
                  </a:extLst>
                </a:gridCol>
                <a:gridCol w="3505200">
                  <a:extLst>
                    <a:ext uri="{9D8B030D-6E8A-4147-A177-3AD203B41FA5}">
                      <a16:colId xmlns:a16="http://schemas.microsoft.com/office/drawing/2014/main" val="1757863532"/>
                    </a:ext>
                  </a:extLst>
                </a:gridCol>
              </a:tblGrid>
              <a:tr h="0">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Tier</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Description</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Pricing</a:t>
                      </a:r>
                    </a:p>
                  </a:txBody>
                  <a:tcPr anchor="ctr">
                    <a:lnL>
                      <a:noFill/>
                    </a:lnL>
                    <a:lnR>
                      <a:noFill/>
                    </a:lnR>
                    <a:lnT>
                      <a:noFill/>
                    </a:lnT>
                    <a:lnB>
                      <a:noFill/>
                    </a:lnB>
                    <a:noFill/>
                  </a:tcPr>
                </a:tc>
                <a:extLst>
                  <a:ext uri="{0D108BD9-81ED-4DB2-BD59-A6C34878D82A}">
                    <a16:rowId xmlns:a16="http://schemas.microsoft.com/office/drawing/2014/main" val="3224135973"/>
                  </a:ext>
                </a:extLst>
              </a:tr>
              <a:tr h="0">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Free Tier</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Public flood alerts</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extLst>
                  <a:ext uri="{0D108BD9-81ED-4DB2-BD59-A6C34878D82A}">
                    <a16:rowId xmlns:a16="http://schemas.microsoft.com/office/drawing/2014/main" val="2697858544"/>
                  </a:ext>
                </a:extLst>
              </a:tr>
              <a:tr h="0">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Pro Tier</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City dashboard + predictive insights</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$499/month</a:t>
                      </a:r>
                    </a:p>
                  </a:txBody>
                  <a:tcPr anchor="ctr">
                    <a:lnL>
                      <a:noFill/>
                    </a:lnL>
                    <a:lnR>
                      <a:noFill/>
                    </a:lnR>
                    <a:lnT>
                      <a:noFill/>
                    </a:lnT>
                    <a:lnB>
                      <a:noFill/>
                    </a:lnB>
                    <a:noFill/>
                  </a:tcPr>
                </a:tc>
                <a:extLst>
                  <a:ext uri="{0D108BD9-81ED-4DB2-BD59-A6C34878D82A}">
                    <a16:rowId xmlns:a16="http://schemas.microsoft.com/office/drawing/2014/main" val="2936018831"/>
                  </a:ext>
                </a:extLst>
              </a:tr>
              <a:tr h="0">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Enterprise Tier</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Insurance + property API</a:t>
                      </a:r>
                    </a:p>
                  </a:txBody>
                  <a:tcPr anchor="ctr">
                    <a:lnL>
                      <a:noFill/>
                    </a:lnL>
                    <a:lnR>
                      <a:noFill/>
                    </a:lnR>
                    <a:lnT>
                      <a:noFill/>
                    </a:lnT>
                    <a:lnB>
                      <a:noFill/>
                    </a:lnB>
                    <a:noFill/>
                  </a:tcPr>
                </a:tc>
                <a:tc>
                  <a:txBody>
                    <a:bodyPr/>
                    <a:lstStyle/>
                    <a:p>
                      <a:pPr marL="342900" indent="-342900" algn="ct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Custom pricing</a:t>
                      </a:r>
                    </a:p>
                  </a:txBody>
                  <a:tcPr anchor="ctr">
                    <a:lnL>
                      <a:noFill/>
                    </a:lnL>
                    <a:lnR>
                      <a:noFill/>
                    </a:lnR>
                    <a:lnT>
                      <a:noFill/>
                    </a:lnT>
                    <a:lnB>
                      <a:noFill/>
                    </a:lnB>
                    <a:noFill/>
                  </a:tcPr>
                </a:tc>
                <a:extLst>
                  <a:ext uri="{0D108BD9-81ED-4DB2-BD59-A6C34878D82A}">
                    <a16:rowId xmlns:a16="http://schemas.microsoft.com/office/drawing/2014/main" val="1176180648"/>
                  </a:ext>
                </a:extLst>
              </a:tr>
            </a:tbl>
          </a:graphicData>
        </a:graphic>
      </p:graphicFrame>
      <p:pic>
        <p:nvPicPr>
          <p:cNvPr id="3" name="Picture 2" descr="A logo with a wave and a graphic design&#10;&#10;AI-generated content may be incorrect.">
            <a:extLst>
              <a:ext uri="{FF2B5EF4-FFF2-40B4-BE49-F238E27FC236}">
                <a16:creationId xmlns:a16="http://schemas.microsoft.com/office/drawing/2014/main" id="{A9E5ED83-05F9-3325-A57E-C16DE6498D8D}"/>
              </a:ext>
            </a:extLst>
          </p:cNvPr>
          <p:cNvPicPr>
            <a:picLocks noChangeAspect="1"/>
          </p:cNvPicPr>
          <p:nvPr/>
        </p:nvPicPr>
        <p:blipFill>
          <a:blip r:embed="rId4"/>
          <a:stretch>
            <a:fillRect/>
          </a:stretch>
        </p:blipFill>
        <p:spPr>
          <a:xfrm>
            <a:off x="176742" y="4330625"/>
            <a:ext cx="3597590" cy="23983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5"/>
                                        </p:tgtEl>
                                        <p:attrNameLst>
                                          <p:attrName>style.visibility</p:attrName>
                                        </p:attrNameLst>
                                      </p:cBhvr>
                                      <p:to>
                                        <p:strVal val="visible"/>
                                      </p:to>
                                    </p:set>
                                    <p:animEffect transition="in" filter="fade">
                                      <p:cBhvr>
                                        <p:cTn id="7" dur="500"/>
                                        <p:tgtEl>
                                          <p:spTgt spid="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19"/>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534" name="Google Shape;534;p19"/>
          <p:cNvSpPr txBox="1"/>
          <p:nvPr/>
        </p:nvSpPr>
        <p:spPr>
          <a:xfrm>
            <a:off x="60010" y="121352"/>
            <a:ext cx="10729133" cy="584735"/>
          </a:xfrm>
          <a:prstGeom prst="rect">
            <a:avLst/>
          </a:prstGeom>
          <a:noFill/>
          <a:ln>
            <a:noFill/>
          </a:ln>
        </p:spPr>
        <p:txBody>
          <a:bodyPr spcFirstLastPara="1" wrap="square" lIns="91425" tIns="45700" rIns="91425" bIns="45700" anchor="t" anchorCtr="0">
            <a:spAutoFit/>
          </a:bodyPr>
          <a:lstStyle/>
          <a:p>
            <a:pPr lvl="0">
              <a:buClr>
                <a:schemeClr val="lt1"/>
              </a:buClr>
              <a:buSzPts val="2800"/>
            </a:pPr>
            <a:r>
              <a:rPr lang="en-US" sz="3200" b="1" dirty="0">
                <a:solidFill>
                  <a:schemeClr val="bg1"/>
                </a:solidFill>
                <a:latin typeface="Times New Roman" panose="02020603050405020304" pitchFamily="18" charset="0"/>
                <a:cs typeface="Times New Roman" panose="02020603050405020304" pitchFamily="18" charset="0"/>
              </a:rPr>
              <a:t>Go-to-Market Plan</a:t>
            </a:r>
            <a:endParaRPr sz="1600" b="1" dirty="0">
              <a:solidFill>
                <a:schemeClr val="bg1"/>
              </a:solidFill>
              <a:latin typeface="Times New Roman" panose="02020603050405020304" pitchFamily="18" charset="0"/>
              <a:cs typeface="Times New Roman" panose="02020603050405020304" pitchFamily="18" charset="0"/>
            </a:endParaRPr>
          </a:p>
        </p:txBody>
      </p:sp>
      <p:cxnSp>
        <p:nvCxnSpPr>
          <p:cNvPr id="535" name="Google Shape;535;p19"/>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536" name="Google Shape;536;p19"/>
          <p:cNvSpPr txBox="1"/>
          <p:nvPr/>
        </p:nvSpPr>
        <p:spPr>
          <a:xfrm>
            <a:off x="11749177" y="6442649"/>
            <a:ext cx="4428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19</a:t>
            </a:r>
            <a:endParaRPr/>
          </a:p>
        </p:txBody>
      </p:sp>
      <p:pic>
        <p:nvPicPr>
          <p:cNvPr id="537" name="Google Shape;537;p19"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sp>
        <p:nvSpPr>
          <p:cNvPr id="539" name="Google Shape;539;p19"/>
          <p:cNvSpPr/>
          <p:nvPr/>
        </p:nvSpPr>
        <p:spPr>
          <a:xfrm>
            <a:off x="134428" y="966401"/>
            <a:ext cx="5713852" cy="2308284"/>
          </a:xfrm>
          <a:prstGeom prst="rect">
            <a:avLst/>
          </a:prstGeom>
          <a:solidFill>
            <a:srgbClr val="FFFFFF"/>
          </a:solidFill>
          <a:ln w="25400" cap="flat" cmpd="sng">
            <a:solidFill>
              <a:schemeClr val="dk1"/>
            </a:solidFill>
            <a:prstDash val="solid"/>
            <a:round/>
            <a:headEnd type="none" w="sm" len="sm"/>
            <a:tailEnd type="none" w="sm" len="sm"/>
          </a:ln>
        </p:spPr>
        <p:txBody>
          <a:bodyPr spcFirstLastPara="1" wrap="square" lIns="45700" tIns="45700" rIns="45700" bIns="45700" anchor="ctr" anchorCtr="0">
            <a:spAutoFit/>
          </a:bodyPr>
          <a:lstStyle/>
          <a:p>
            <a:pPr lvl="0" algn="ctr"/>
            <a:r>
              <a:rPr lang="en-US" sz="2400" b="1" dirty="0">
                <a:latin typeface="Times New Roman" panose="02020603050405020304" pitchFamily="18" charset="0"/>
                <a:cs typeface="Times New Roman" panose="02020603050405020304" pitchFamily="18" charset="0"/>
              </a:rPr>
              <a:t>Phase 1:</a:t>
            </a:r>
            <a:r>
              <a:rPr lang="en-US" sz="2400" dirty="0">
                <a:latin typeface="Times New Roman" panose="02020603050405020304" pitchFamily="18" charset="0"/>
                <a:cs typeface="Times New Roman" panose="02020603050405020304" pitchFamily="18" charset="0"/>
              </a:rPr>
              <a:t> Pilot with </a:t>
            </a:r>
            <a:r>
              <a:rPr lang="en-US" sz="2400" b="1" dirty="0">
                <a:latin typeface="Times New Roman" panose="02020603050405020304" pitchFamily="18" charset="0"/>
                <a:cs typeface="Times New Roman" panose="02020603050405020304" pitchFamily="18" charset="0"/>
              </a:rPr>
              <a:t>FIU Civil Engineering Dept.</a:t>
            </a:r>
            <a:r>
              <a:rPr lang="en-US" sz="2400" dirty="0">
                <a:latin typeface="Times New Roman" panose="02020603050405020304" pitchFamily="18" charset="0"/>
                <a:cs typeface="Times New Roman" panose="02020603050405020304" pitchFamily="18" charset="0"/>
              </a:rPr>
              <a:t> + test in Little River</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Phase 2:</a:t>
            </a:r>
            <a:r>
              <a:rPr lang="en-US" sz="2400" dirty="0">
                <a:latin typeface="Times New Roman" panose="02020603050405020304" pitchFamily="18" charset="0"/>
                <a:cs typeface="Times New Roman" panose="02020603050405020304" pitchFamily="18" charset="0"/>
              </a:rPr>
              <a:t> Partner with </a:t>
            </a:r>
            <a:r>
              <a:rPr lang="en-US" sz="2400" b="1" dirty="0">
                <a:latin typeface="Times New Roman" panose="02020603050405020304" pitchFamily="18" charset="0"/>
                <a:cs typeface="Times New Roman" panose="02020603050405020304" pitchFamily="18" charset="0"/>
              </a:rPr>
              <a:t>Miami-Dade Office of Resilience</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Phase 3:</a:t>
            </a:r>
            <a:r>
              <a:rPr lang="en-US" sz="2400" dirty="0">
                <a:latin typeface="Times New Roman" panose="02020603050405020304" pitchFamily="18" charset="0"/>
                <a:cs typeface="Times New Roman" panose="02020603050405020304" pitchFamily="18" charset="0"/>
              </a:rPr>
              <a:t> Expand to Broward &amp; Palm Beach counties</a:t>
            </a:r>
            <a:endParaRPr sz="2400" b="1" dirty="0">
              <a:solidFill>
                <a:schemeClr val="dk1"/>
              </a:solidFill>
              <a:latin typeface="Times New Roman" panose="02020603050405020304" pitchFamily="18" charset="0"/>
              <a:cs typeface="Times New Roman" panose="02020603050405020304" pitchFamily="18" charset="0"/>
              <a:sym typeface="Arial"/>
            </a:endParaRPr>
          </a:p>
        </p:txBody>
      </p:sp>
      <p:sp>
        <p:nvSpPr>
          <p:cNvPr id="2" name="Rectangle 1">
            <a:extLst>
              <a:ext uri="{FF2B5EF4-FFF2-40B4-BE49-F238E27FC236}">
                <a16:creationId xmlns:a16="http://schemas.microsoft.com/office/drawing/2014/main" id="{3F93D7B4-EE32-49C9-42DE-C8FBE0E15DEC}"/>
              </a:ext>
            </a:extLst>
          </p:cNvPr>
          <p:cNvSpPr>
            <a:spLocks noChangeArrowheads="1"/>
          </p:cNvSpPr>
          <p:nvPr/>
        </p:nvSpPr>
        <p:spPr bwMode="auto">
          <a:xfrm>
            <a:off x="0" y="-202599"/>
            <a:ext cx="65" cy="405199"/>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B624ABCD-259C-7D41-3DAC-233A3AFBF94F}"/>
              </a:ext>
            </a:extLst>
          </p:cNvPr>
          <p:cNvSpPr txBox="1"/>
          <p:nvPr/>
        </p:nvSpPr>
        <p:spPr>
          <a:xfrm>
            <a:off x="6024663" y="1220124"/>
            <a:ext cx="6167336" cy="2769989"/>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phase focuses on research and development, with a specific pilot test in the Little River area of Miami. </a:t>
            </a: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University-led research:</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FIU's Civil Engineering department would lead the development and testing of solutions for climate-ready infrastructure. FIU has existing research institutes, like the Institute for Resilient and Sustainable Coastal Infrastructure (</a:t>
            </a:r>
            <a:r>
              <a:rPr kumimoji="0" lang="en-US" altLang="en-US" sz="1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InteRaCt</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are designed to find engineering solutions for aging and vulnerable infrastructure.</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site: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Little River Adaptation Action Area, located in Miami-Dade County, has been a key site for planning and pilot projects aimed at localized sea level rise strategies. Initiatives here include investigating septic-to-sewer conversion and creating "blue and green spaces" for water retention. </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19D3D2F3-5C76-EEA5-A65D-F6DD1B1F7466}"/>
              </a:ext>
            </a:extLst>
          </p:cNvPr>
          <p:cNvSpPr>
            <a:spLocks noChangeArrowheads="1"/>
          </p:cNvSpPr>
          <p:nvPr/>
        </p:nvSpPr>
        <p:spPr bwMode="auto">
          <a:xfrm>
            <a:off x="0" y="-202599"/>
            <a:ext cx="65" cy="405199"/>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33E2E868-F6E6-FA90-A434-94E8A2670564}"/>
              </a:ext>
            </a:extLst>
          </p:cNvPr>
          <p:cNvSpPr txBox="1"/>
          <p:nvPr/>
        </p:nvSpPr>
        <p:spPr>
          <a:xfrm>
            <a:off x="196174" y="3604636"/>
            <a:ext cx="6167336" cy="2769989"/>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a successful pilot, the project scales up through a formal partnership with the Miami-Dade Office of Resilience.</a:t>
            </a: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Expansion of scope:</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Miami-Dade County's Office of Resilience has a wide-ranging program to address climate change impacts like sea-level rise and extreme heat, and it already collaborates with FIU. This partnership would allow the solutions developed by FIU to be integrated into larger, county-wide resilience strategies.</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Shared resources: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collaboration would leverage the resources of both organizations. The Tech Hub project, which FIU is part of, has received millions in grant funding from the U.S. Department of Commerce to support resilient infrastructure.</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F899DE23-9A31-75E6-2369-0725103611C5}"/>
              </a:ext>
            </a:extLst>
          </p:cNvPr>
          <p:cNvSpPr>
            <a:spLocks noChangeArrowheads="1"/>
          </p:cNvSpPr>
          <p:nvPr/>
        </p:nvSpPr>
        <p:spPr bwMode="auto">
          <a:xfrm>
            <a:off x="0" y="-202599"/>
            <a:ext cx="65" cy="405199"/>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A269AD56-8F3C-92D3-9D9B-8A74EDA05E91}"/>
              </a:ext>
            </a:extLst>
          </p:cNvPr>
          <p:cNvSpPr txBox="1"/>
          <p:nvPr/>
        </p:nvSpPr>
        <p:spPr>
          <a:xfrm>
            <a:off x="6525974" y="3966619"/>
            <a:ext cx="5489643" cy="2769989"/>
          </a:xfrm>
          <a:prstGeom prst="rect">
            <a:avLst/>
          </a:prstGeom>
          <a:noFill/>
        </p:spPr>
        <p:txBody>
          <a:bodyPr wrap="square">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final phase, the initiative is expanded to cover the broader South Florida region.</a:t>
            </a:r>
            <a:endPar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r"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Regional collaboration: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expansion would include Broward and Palm Beach counties, building on existing partnerships. These counties are part of the larger regional </a:t>
            </a: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Risk and Resilience Tech Hub</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alongside Miami-Dade, and the program is designed to scale solutions across the entire region.</a:t>
            </a:r>
          </a:p>
          <a:p>
            <a:pPr marL="0" marR="0" lvl="0" indent="0" algn="r"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Large-scale implementation: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expanding, the project would transition from a localized pilot to a regional implementation effort. This would allow the tested technologies and strategies to be commercialized and scaled to benefit a much larger population. </a:t>
            </a:r>
          </a:p>
          <a:p>
            <a:pPr marL="0" marR="0" lvl="0" indent="0" algn="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9A354771-6D15-DED8-BA22-00299418793A}"/>
              </a:ext>
            </a:extLst>
          </p:cNvPr>
          <p:cNvCxnSpPr/>
          <p:nvPr/>
        </p:nvCxnSpPr>
        <p:spPr>
          <a:xfrm>
            <a:off x="4786009" y="1585609"/>
            <a:ext cx="13099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8E5EB2D7-2DD4-158F-1DA4-6A3D4A0B34A1}"/>
              </a:ext>
            </a:extLst>
          </p:cNvPr>
          <p:cNvCxnSpPr>
            <a:cxnSpLocks/>
          </p:cNvCxnSpPr>
          <p:nvPr/>
        </p:nvCxnSpPr>
        <p:spPr>
          <a:xfrm flipH="1">
            <a:off x="1916349" y="2321669"/>
            <a:ext cx="1845013" cy="12829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177ACC90-DF5D-0A5B-35CB-6F83ED558713}"/>
              </a:ext>
            </a:extLst>
          </p:cNvPr>
          <p:cNvCxnSpPr>
            <a:cxnSpLocks/>
          </p:cNvCxnSpPr>
          <p:nvPr/>
        </p:nvCxnSpPr>
        <p:spPr>
          <a:xfrm>
            <a:off x="3547354" y="3090154"/>
            <a:ext cx="3310646" cy="11900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
                                        <p:tgtEl>
                                          <p:spTgt spid="537"/>
                                        </p:tgtEl>
                                      </p:cBhvr>
                                    </p:animEffect>
                                  </p:childTnLst>
                                </p:cTn>
                              </p:par>
                              <p:par>
                                <p:cTn id="8" presetID="10" presetClass="entr" presetSubtype="0" fill="hold" nodeType="withEffect">
                                  <p:stCondLst>
                                    <p:cond delay="0"/>
                                  </p:stCondLst>
                                  <p:childTnLst>
                                    <p:set>
                                      <p:cBhvr>
                                        <p:cTn id="9" dur="1" fill="hold">
                                          <p:stCondLst>
                                            <p:cond delay="0"/>
                                          </p:stCondLst>
                                        </p:cTn>
                                        <p:tgtEl>
                                          <p:spTgt spid="539"/>
                                        </p:tgtEl>
                                        <p:attrNameLst>
                                          <p:attrName>style.visibility</p:attrName>
                                        </p:attrNameLst>
                                      </p:cBhvr>
                                      <p:to>
                                        <p:strVal val="visible"/>
                                      </p:to>
                                    </p:set>
                                    <p:animEffect transition="in" filter="fade">
                                      <p:cBhvr>
                                        <p:cTn id="10" dur="1000"/>
                                        <p:tgtEl>
                                          <p:spTgt spid="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20"/>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546" name="Google Shape;546;p20"/>
          <p:cNvSpPr txBox="1"/>
          <p:nvPr/>
        </p:nvSpPr>
        <p:spPr>
          <a:xfrm>
            <a:off x="60010" y="121352"/>
            <a:ext cx="11245299" cy="646290"/>
          </a:xfrm>
          <a:prstGeom prst="rect">
            <a:avLst/>
          </a:prstGeom>
          <a:noFill/>
          <a:ln>
            <a:noFill/>
          </a:ln>
        </p:spPr>
        <p:txBody>
          <a:bodyPr spcFirstLastPara="1" wrap="square" lIns="91425" tIns="45700" rIns="91425" bIns="45700" anchor="t" anchorCtr="0">
            <a:spAutoFit/>
          </a:bodyPr>
          <a:lstStyle/>
          <a:p>
            <a:pPr lvl="0">
              <a:buClr>
                <a:schemeClr val="lt1"/>
              </a:buClr>
              <a:buSzPts val="3200"/>
            </a:pPr>
            <a:r>
              <a:rPr lang="en-US" sz="3600" b="1" dirty="0">
                <a:solidFill>
                  <a:schemeClr val="bg1"/>
                </a:solidFill>
                <a:latin typeface="Times New Roman" panose="02020603050405020304" pitchFamily="18" charset="0"/>
                <a:cs typeface="Times New Roman" panose="02020603050405020304" pitchFamily="18" charset="0"/>
              </a:rPr>
              <a:t>Competitive Advantage</a:t>
            </a:r>
            <a:endParaRPr sz="1600" b="1" dirty="0">
              <a:solidFill>
                <a:schemeClr val="bg1"/>
              </a:solidFill>
              <a:latin typeface="Times New Roman" panose="02020603050405020304" pitchFamily="18" charset="0"/>
              <a:cs typeface="Times New Roman" panose="02020603050405020304" pitchFamily="18" charset="0"/>
            </a:endParaRPr>
          </a:p>
        </p:txBody>
      </p:sp>
      <p:cxnSp>
        <p:nvCxnSpPr>
          <p:cNvPr id="547" name="Google Shape;547;p20"/>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548" name="Google Shape;548;p20"/>
          <p:cNvSpPr txBox="1"/>
          <p:nvPr/>
        </p:nvSpPr>
        <p:spPr>
          <a:xfrm>
            <a:off x="11749177" y="6442649"/>
            <a:ext cx="4428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20</a:t>
            </a:r>
            <a:endParaRPr/>
          </a:p>
        </p:txBody>
      </p:sp>
      <p:pic>
        <p:nvPicPr>
          <p:cNvPr id="549" name="Google Shape;549;p20"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sp>
        <p:nvSpPr>
          <p:cNvPr id="551" name="Google Shape;551;p20"/>
          <p:cNvSpPr/>
          <p:nvPr/>
        </p:nvSpPr>
        <p:spPr>
          <a:xfrm>
            <a:off x="544182" y="1371039"/>
            <a:ext cx="8590090" cy="1815841"/>
          </a:xfrm>
          <a:prstGeom prst="rect">
            <a:avLst/>
          </a:prstGeom>
          <a:solidFill>
            <a:srgbClr val="FFFFFF"/>
          </a:solidFill>
          <a:ln w="25400" cap="flat" cmpd="sng">
            <a:solidFill>
              <a:schemeClr val="dk1"/>
            </a:solidFill>
            <a:prstDash val="solid"/>
            <a:round/>
            <a:headEnd type="none" w="sm" len="sm"/>
            <a:tailEnd type="none" w="sm" len="sm"/>
          </a:ln>
        </p:spPr>
        <p:txBody>
          <a:bodyPr spcFirstLastPara="1" wrap="square" lIns="45700" tIns="45700" rIns="45700" bIns="45700" anchor="ctr" anchorCtr="0">
            <a:spAutoFit/>
          </a:bodyPr>
          <a:lstStyle/>
          <a:p>
            <a:pPr lvl="0" algn="ctr"/>
            <a:r>
              <a:rPr lang="en-US" sz="2800" b="1" dirty="0">
                <a:latin typeface="Times New Roman" panose="02020603050405020304" pitchFamily="18" charset="0"/>
                <a:cs typeface="Times New Roman" panose="02020603050405020304" pitchFamily="18" charset="0"/>
              </a:rPr>
              <a:t>✅ Localized data model — built </a:t>
            </a:r>
            <a:r>
              <a:rPr lang="en-US" sz="2800" b="1" i="1" dirty="0">
                <a:latin typeface="Times New Roman" panose="02020603050405020304" pitchFamily="18" charset="0"/>
                <a:cs typeface="Times New Roman" panose="02020603050405020304" pitchFamily="18" charset="0"/>
              </a:rPr>
              <a:t>for</a:t>
            </a:r>
            <a:r>
              <a:rPr lang="en-US" sz="2800" b="1" dirty="0">
                <a:latin typeface="Times New Roman" panose="02020603050405020304" pitchFamily="18" charset="0"/>
                <a:cs typeface="Times New Roman" panose="02020603050405020304" pitchFamily="18" charset="0"/>
              </a:rPr>
              <a:t> Miami</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Community-powered reports — real-time accuracy</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No-code &amp; scalable — fast deployment</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Civil-engineering expertise — validated design</a:t>
            </a:r>
            <a:endParaRPr sz="4000" b="1" dirty="0">
              <a:solidFill>
                <a:schemeClr val="dk1"/>
              </a:solidFill>
              <a:latin typeface="Times New Roman" panose="02020603050405020304" pitchFamily="18" charset="0"/>
              <a:cs typeface="Times New Roman" panose="02020603050405020304" pitchFamily="18" charset="0"/>
              <a:sym typeface="Arial"/>
            </a:endParaRPr>
          </a:p>
        </p:txBody>
      </p:sp>
      <p:sp>
        <p:nvSpPr>
          <p:cNvPr id="3" name="TextBox 2">
            <a:extLst>
              <a:ext uri="{FF2B5EF4-FFF2-40B4-BE49-F238E27FC236}">
                <a16:creationId xmlns:a16="http://schemas.microsoft.com/office/drawing/2014/main" id="{95C5A557-0D15-92A9-379A-052CB7C9BD6E}"/>
              </a:ext>
            </a:extLst>
          </p:cNvPr>
          <p:cNvSpPr txBox="1"/>
          <p:nvPr/>
        </p:nvSpPr>
        <p:spPr>
          <a:xfrm>
            <a:off x="5521042" y="3671121"/>
            <a:ext cx="6181928" cy="2031325"/>
          </a:xfrm>
          <a:prstGeom prst="rect">
            <a:avLst/>
          </a:prstGeom>
          <a:noFill/>
        </p:spPr>
        <p:txBody>
          <a:bodyPr wrap="square">
            <a:spAutoFit/>
          </a:bodyPr>
          <a:lstStyle/>
          <a:p>
            <a:pPr algn="ctr"/>
            <a:r>
              <a:rPr lang="en-US" sz="1800" b="0" i="0" dirty="0">
                <a:solidFill>
                  <a:schemeClr val="tx1"/>
                </a:solidFill>
                <a:effectLst/>
                <a:latin typeface="Times New Roman" panose="02020603050405020304" pitchFamily="18" charset="0"/>
                <a:cs typeface="Times New Roman" panose="02020603050405020304" pitchFamily="18" charset="0"/>
              </a:rPr>
              <a:t>FEMA's disaster management tools are designed for the specific federal, state, and local government structure of the United States. Global tools, such as those used by the United Nations Office for the Coordination of Humanitarian Affairs (OCHA), are built to handle international coordination across diverse governmental and non-governmental actors</a:t>
            </a:r>
            <a:r>
              <a:rPr lang="en-US" sz="1800" dirty="0">
                <a:solidFill>
                  <a:schemeClr val="tx1"/>
                </a:solidFill>
                <a:latin typeface="Times New Roman" panose="02020603050405020304" pitchFamily="18" charset="0"/>
                <a:cs typeface="Times New Roman" panose="02020603050405020304" pitchFamily="18" charset="0"/>
              </a:rPr>
              <a:t>.</a:t>
            </a:r>
            <a:endParaRPr lang="en-US" sz="1800" b="0" i="0" dirty="0">
              <a:solidFill>
                <a:schemeClr val="tx1"/>
              </a:solidFill>
              <a:effectLst/>
              <a:latin typeface="Times New Roman" panose="02020603050405020304" pitchFamily="18" charset="0"/>
              <a:cs typeface="Times New Roman" panose="02020603050405020304" pitchFamily="18" charset="0"/>
            </a:endParaRPr>
          </a:p>
          <a:p>
            <a:pPr algn="ct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4" name="Picture 3" descr="A logo with a wave and a graphic design&#10;&#10;AI-generated content may be incorrect.">
            <a:extLst>
              <a:ext uri="{FF2B5EF4-FFF2-40B4-BE49-F238E27FC236}">
                <a16:creationId xmlns:a16="http://schemas.microsoft.com/office/drawing/2014/main" id="{014B4AA8-8DBD-4BB9-6275-78F0A8C5B005}"/>
              </a:ext>
            </a:extLst>
          </p:cNvPr>
          <p:cNvPicPr>
            <a:picLocks noChangeAspect="1"/>
          </p:cNvPicPr>
          <p:nvPr/>
        </p:nvPicPr>
        <p:blipFill>
          <a:blip r:embed="rId4"/>
          <a:stretch>
            <a:fillRect/>
          </a:stretch>
        </p:blipFill>
        <p:spPr>
          <a:xfrm>
            <a:off x="176742" y="4330625"/>
            <a:ext cx="3597590" cy="23983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49"/>
                                        </p:tgtEl>
                                        <p:attrNameLst>
                                          <p:attrName>style.visibility</p:attrName>
                                        </p:attrNameLst>
                                      </p:cBhvr>
                                      <p:to>
                                        <p:strVal val="visible"/>
                                      </p:to>
                                    </p:set>
                                    <p:animEffect transition="in" filter="fade">
                                      <p:cBhvr>
                                        <p:cTn id="7" dur="500"/>
                                        <p:tgtEl>
                                          <p:spTgt spid="549"/>
                                        </p:tgtEl>
                                      </p:cBhvr>
                                    </p:animEffect>
                                  </p:childTnLst>
                                </p:cTn>
                              </p:par>
                              <p:par>
                                <p:cTn id="8" presetID="10" presetClass="entr" presetSubtype="0" fill="hold" nodeType="withEffect">
                                  <p:stCondLst>
                                    <p:cond delay="0"/>
                                  </p:stCondLst>
                                  <p:childTnLst>
                                    <p:set>
                                      <p:cBhvr>
                                        <p:cTn id="9" dur="1" fill="hold">
                                          <p:stCondLst>
                                            <p:cond delay="0"/>
                                          </p:stCondLst>
                                        </p:cTn>
                                        <p:tgtEl>
                                          <p:spTgt spid="551"/>
                                        </p:tgtEl>
                                        <p:attrNameLst>
                                          <p:attrName>style.visibility</p:attrName>
                                        </p:attrNameLst>
                                      </p:cBhvr>
                                      <p:to>
                                        <p:strVal val="visible"/>
                                      </p:to>
                                    </p:set>
                                    <p:animEffect transition="in" filter="fade">
                                      <p:cBhvr>
                                        <p:cTn id="10" dur="1000"/>
                                        <p:tgtEl>
                                          <p:spTgt spid="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21"/>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558" name="Google Shape;558;p21"/>
          <p:cNvSpPr txBox="1"/>
          <p:nvPr/>
        </p:nvSpPr>
        <p:spPr>
          <a:xfrm>
            <a:off x="60010" y="121352"/>
            <a:ext cx="9928447" cy="646290"/>
          </a:xfrm>
          <a:prstGeom prst="rect">
            <a:avLst/>
          </a:prstGeom>
          <a:noFill/>
          <a:ln>
            <a:noFill/>
          </a:ln>
        </p:spPr>
        <p:txBody>
          <a:bodyPr spcFirstLastPara="1" wrap="square" lIns="91425" tIns="45700" rIns="91425" bIns="45700" anchor="t" anchorCtr="0">
            <a:spAutoFit/>
          </a:bodyPr>
          <a:lstStyle/>
          <a:p>
            <a:pPr lvl="0">
              <a:buClr>
                <a:schemeClr val="lt1"/>
              </a:buClr>
              <a:buSzPts val="3200"/>
            </a:pPr>
            <a:r>
              <a:rPr lang="en-US" sz="3600" b="1" dirty="0">
                <a:solidFill>
                  <a:schemeClr val="bg1"/>
                </a:solidFill>
                <a:latin typeface="Times New Roman" panose="02020603050405020304" pitchFamily="18" charset="0"/>
                <a:cs typeface="Times New Roman" panose="02020603050405020304" pitchFamily="18" charset="0"/>
              </a:rPr>
              <a:t>Impact</a:t>
            </a:r>
            <a:endParaRPr sz="1600" b="1" dirty="0">
              <a:solidFill>
                <a:schemeClr val="bg1"/>
              </a:solidFill>
              <a:latin typeface="Times New Roman" panose="02020603050405020304" pitchFamily="18" charset="0"/>
              <a:cs typeface="Times New Roman" panose="02020603050405020304" pitchFamily="18" charset="0"/>
            </a:endParaRPr>
          </a:p>
        </p:txBody>
      </p:sp>
      <p:cxnSp>
        <p:nvCxnSpPr>
          <p:cNvPr id="559" name="Google Shape;559;p21"/>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560" name="Google Shape;560;p21"/>
          <p:cNvSpPr txBox="1"/>
          <p:nvPr/>
        </p:nvSpPr>
        <p:spPr>
          <a:xfrm>
            <a:off x="11749177" y="6442649"/>
            <a:ext cx="4428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21</a:t>
            </a:r>
            <a:endParaRPr/>
          </a:p>
        </p:txBody>
      </p:sp>
      <p:pic>
        <p:nvPicPr>
          <p:cNvPr id="561" name="Google Shape;561;p21"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pic>
        <p:nvPicPr>
          <p:cNvPr id="562" name="Google Shape;562;p21" descr="A graph of blue rectangular bars&#10;&#10;AI-generated content may be incorrect."/>
          <p:cNvPicPr preferRelativeResize="0"/>
          <p:nvPr/>
        </p:nvPicPr>
        <p:blipFill rotWithShape="1">
          <a:blip r:embed="rId4">
            <a:alphaModFix/>
          </a:blip>
          <a:srcRect/>
          <a:stretch/>
        </p:blipFill>
        <p:spPr>
          <a:xfrm>
            <a:off x="289711" y="1497293"/>
            <a:ext cx="9300891" cy="4650446"/>
          </a:xfrm>
          <a:prstGeom prst="rect">
            <a:avLst/>
          </a:prstGeom>
          <a:noFill/>
          <a:ln>
            <a:noFill/>
          </a:ln>
          <a:effectLst>
            <a:outerShdw blurRad="50800" dist="50800" dir="5400000" algn="ctr" rotWithShape="0">
              <a:srgbClr val="000000">
                <a:alpha val="0"/>
              </a:srgbClr>
            </a:outerShdw>
            <a:reflection stA="1000" endPos="65000" dist="50800" dir="5400000" sy="-100000" algn="bl" rotWithShape="0"/>
          </a:effectLst>
        </p:spPr>
      </p:pic>
      <p:sp>
        <p:nvSpPr>
          <p:cNvPr id="563" name="Google Shape;563;p21"/>
          <p:cNvSpPr/>
          <p:nvPr/>
        </p:nvSpPr>
        <p:spPr>
          <a:xfrm>
            <a:off x="9333296" y="1778473"/>
            <a:ext cx="983721" cy="3744871"/>
          </a:xfrm>
          <a:prstGeom prst="leftBrace">
            <a:avLst>
              <a:gd name="adj1" fmla="val 8333"/>
              <a:gd name="adj2" fmla="val 50000"/>
            </a:avLst>
          </a:prstGeom>
          <a:no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64" name="Google Shape;564;p21"/>
          <p:cNvSpPr/>
          <p:nvPr/>
        </p:nvSpPr>
        <p:spPr>
          <a:xfrm>
            <a:off x="10241965" y="1872446"/>
            <a:ext cx="1592738" cy="3539426"/>
          </a:xfrm>
          <a:prstGeom prst="rect">
            <a:avLst/>
          </a:prstGeom>
          <a:solidFill>
            <a:srgbClr val="FFFFFF"/>
          </a:solidFill>
          <a:ln w="25400" cap="flat" cmpd="sng">
            <a:solidFill>
              <a:schemeClr val="dk1"/>
            </a:solidFill>
            <a:prstDash val="solid"/>
            <a:round/>
            <a:headEnd type="none" w="sm" len="sm"/>
            <a:tailEnd type="none" w="sm" len="sm"/>
          </a:ln>
        </p:spPr>
        <p:txBody>
          <a:bodyPr spcFirstLastPara="1" wrap="square" lIns="45700" tIns="45700" rIns="45700" bIns="45700" anchor="ctr" anchorCtr="0">
            <a:spAutoFit/>
          </a:bodyPr>
          <a:lstStyle/>
          <a:p>
            <a:pPr marL="0" marR="0" lvl="0" indent="0" algn="ctr" rtl="0">
              <a:spcBef>
                <a:spcPts val="0"/>
              </a:spcBef>
              <a:spcAft>
                <a:spcPts val="0"/>
              </a:spcAft>
              <a:buNone/>
            </a:pPr>
            <a:r>
              <a:rPr lang="en-US" sz="1400" b="1">
                <a:solidFill>
                  <a:schemeClr val="dk1"/>
                </a:solidFill>
                <a:latin typeface="Arial"/>
                <a:ea typeface="Arial"/>
                <a:cs typeface="Arial"/>
                <a:sym typeface="Arial"/>
              </a:rPr>
              <a:t>This chart compares flood loss estimates using different numbers of archetypes in the model. The highest loss is observed with 15 archetypes, showing the importance of detailed categorization for accurate loss assessment.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1"/>
                                        </p:tgtEl>
                                        <p:attrNameLst>
                                          <p:attrName>style.visibility</p:attrName>
                                        </p:attrNameLst>
                                      </p:cBhvr>
                                      <p:to>
                                        <p:strVal val="visible"/>
                                      </p:to>
                                    </p:set>
                                    <p:animEffect transition="in" filter="fade">
                                      <p:cBhvr>
                                        <p:cTn id="7" dur="500"/>
                                        <p:tgtEl>
                                          <p:spTgt spid="561"/>
                                        </p:tgtEl>
                                      </p:cBhvr>
                                    </p:animEffect>
                                  </p:childTnLst>
                                </p:cTn>
                              </p:par>
                              <p:par>
                                <p:cTn id="8" presetID="10" presetClass="entr" presetSubtype="0" fill="hold" nodeType="withEffect">
                                  <p:stCondLst>
                                    <p:cond delay="0"/>
                                  </p:stCondLst>
                                  <p:childTnLst>
                                    <p:set>
                                      <p:cBhvr>
                                        <p:cTn id="9" dur="1" fill="hold">
                                          <p:stCondLst>
                                            <p:cond delay="0"/>
                                          </p:stCondLst>
                                        </p:cTn>
                                        <p:tgtEl>
                                          <p:spTgt spid="564"/>
                                        </p:tgtEl>
                                        <p:attrNameLst>
                                          <p:attrName>style.visibility</p:attrName>
                                        </p:attrNameLst>
                                      </p:cBhvr>
                                      <p:to>
                                        <p:strVal val="visible"/>
                                      </p:to>
                                    </p:set>
                                    <p:animEffect transition="in" filter="fade">
                                      <p:cBhvr>
                                        <p:cTn id="10" dur="1000"/>
                                        <p:tgtEl>
                                          <p:spTgt spid="564"/>
                                        </p:tgtEl>
                                      </p:cBhvr>
                                    </p:animEffect>
                                  </p:childTnLst>
                                </p:cTn>
                              </p:par>
                              <p:par>
                                <p:cTn id="11" presetID="10" presetClass="entr" presetSubtype="0" fill="hold" nodeType="withEffect">
                                  <p:stCondLst>
                                    <p:cond delay="0"/>
                                  </p:stCondLst>
                                  <p:childTnLst>
                                    <p:set>
                                      <p:cBhvr>
                                        <p:cTn id="12" dur="1" fill="hold">
                                          <p:stCondLst>
                                            <p:cond delay="0"/>
                                          </p:stCondLst>
                                        </p:cTn>
                                        <p:tgtEl>
                                          <p:spTgt spid="563"/>
                                        </p:tgtEl>
                                        <p:attrNameLst>
                                          <p:attrName>style.visibility</p:attrName>
                                        </p:attrNameLst>
                                      </p:cBhvr>
                                      <p:to>
                                        <p:strVal val="visible"/>
                                      </p:to>
                                    </p:set>
                                    <p:animEffect transition="in" filter="fade">
                                      <p:cBhvr>
                                        <p:cTn id="13" dur="1000"/>
                                        <p:tgtEl>
                                          <p:spTgt spid="56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62"/>
                                        </p:tgtEl>
                                        <p:attrNameLst>
                                          <p:attrName>style.visibility</p:attrName>
                                        </p:attrNameLst>
                                      </p:cBhvr>
                                      <p:to>
                                        <p:strVal val="visible"/>
                                      </p:to>
                                    </p:set>
                                    <p:animEffect transition="in" filter="fade">
                                      <p:cBhvr>
                                        <p:cTn id="18" dur="500"/>
                                        <p:tgtEl>
                                          <p:spTgt spid="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48E721A-DAF9-DF60-65C7-350D4D2ED05B}"/>
              </a:ext>
            </a:extLst>
          </p:cNvPr>
          <p:cNvSpPr txBox="1"/>
          <p:nvPr/>
        </p:nvSpPr>
        <p:spPr>
          <a:xfrm>
            <a:off x="1773272" y="2134823"/>
            <a:ext cx="8645456" cy="2062103"/>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annual property losses by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10–20%</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Protect 2.7M Miami residents</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Miami’s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2050 climate adaptation goals</a:t>
            </a: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Bridge citizens, engineers, and policymakers</a:t>
            </a:r>
          </a:p>
        </p:txBody>
      </p:sp>
      <p:pic>
        <p:nvPicPr>
          <p:cNvPr id="7" name="Picture 6" descr="A logo with a wave and a graphic design&#10;&#10;AI-generated content may be incorrect.">
            <a:extLst>
              <a:ext uri="{FF2B5EF4-FFF2-40B4-BE49-F238E27FC236}">
                <a16:creationId xmlns:a16="http://schemas.microsoft.com/office/drawing/2014/main" id="{0A6D8233-054C-3CBA-B1DD-E64D9A85EB1A}"/>
              </a:ext>
            </a:extLst>
          </p:cNvPr>
          <p:cNvPicPr>
            <a:picLocks noChangeAspect="1"/>
          </p:cNvPicPr>
          <p:nvPr/>
        </p:nvPicPr>
        <p:blipFill>
          <a:blip r:embed="rId2"/>
          <a:stretch>
            <a:fillRect/>
          </a:stretch>
        </p:blipFill>
        <p:spPr>
          <a:xfrm>
            <a:off x="176742" y="4330625"/>
            <a:ext cx="3597590" cy="2398393"/>
          </a:xfrm>
          <a:prstGeom prst="rect">
            <a:avLst/>
          </a:prstGeom>
        </p:spPr>
      </p:pic>
    </p:spTree>
    <p:extLst>
      <p:ext uri="{BB962C8B-B14F-4D97-AF65-F5344CB8AC3E}">
        <p14:creationId xmlns:p14="http://schemas.microsoft.com/office/powerpoint/2010/main" val="555545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3"/>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sp>
        <p:nvSpPr>
          <p:cNvPr id="602" name="Google Shape;602;p23"/>
          <p:cNvSpPr txBox="1"/>
          <p:nvPr/>
        </p:nvSpPr>
        <p:spPr>
          <a:xfrm>
            <a:off x="60010" y="121352"/>
            <a:ext cx="9928447"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a:solidFill>
                  <a:schemeClr val="lt1"/>
                </a:solidFill>
                <a:latin typeface="Arial"/>
                <a:ea typeface="Arial"/>
                <a:cs typeface="Arial"/>
                <a:sym typeface="Arial"/>
              </a:rPr>
              <a:t>References</a:t>
            </a:r>
            <a:endParaRPr/>
          </a:p>
        </p:txBody>
      </p:sp>
      <p:cxnSp>
        <p:nvCxnSpPr>
          <p:cNvPr id="603" name="Google Shape;603;p23"/>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604" name="Google Shape;604;p23"/>
          <p:cNvSpPr txBox="1"/>
          <p:nvPr/>
        </p:nvSpPr>
        <p:spPr>
          <a:xfrm>
            <a:off x="11749177" y="6442649"/>
            <a:ext cx="4428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23</a:t>
            </a:r>
            <a:endParaRPr/>
          </a:p>
        </p:txBody>
      </p:sp>
      <p:pic>
        <p:nvPicPr>
          <p:cNvPr id="605" name="Google Shape;605;p23"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sp>
        <p:nvSpPr>
          <p:cNvPr id="606" name="Google Shape;606;p23"/>
          <p:cNvSpPr txBox="1"/>
          <p:nvPr/>
        </p:nvSpPr>
        <p:spPr>
          <a:xfrm>
            <a:off x="477354" y="1341111"/>
            <a:ext cx="11527002" cy="3785611"/>
          </a:xfrm>
          <a:prstGeom prst="rect">
            <a:avLst/>
          </a:prstGeom>
          <a:noFill/>
          <a:ln>
            <a:noFill/>
          </a:ln>
        </p:spPr>
        <p:txBody>
          <a:bodyPr spcFirstLastPara="1" wrap="square" lIns="91425" tIns="45700" rIns="91425" bIns="45700" anchor="t" anchorCtr="0">
            <a:spAutoFit/>
          </a:bodyPr>
          <a:lstStyle/>
          <a:p>
            <a:pPr marL="457200" lvl="0" indent="-457200" eaLnBrk="0" fontAlgn="base" hangingPunct="0">
              <a:spcBef>
                <a:spcPct val="0"/>
              </a:spcBef>
              <a:spcAft>
                <a:spcPct val="0"/>
              </a:spcAft>
              <a:buClr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NOAA National Weather Service (NWS).</a:t>
            </a:r>
            <a:r>
              <a:rPr lang="en-US" altLang="en-US" sz="2400" dirty="0">
                <a:solidFill>
                  <a:schemeClr val="tx1"/>
                </a:solidFill>
                <a:latin typeface="Times New Roman" panose="02020603050405020304" pitchFamily="18" charset="0"/>
                <a:cs typeface="Times New Roman" panose="02020603050405020304" pitchFamily="18" charset="0"/>
              </a:rPr>
              <a:t> (2024). </a:t>
            </a:r>
            <a:r>
              <a:rPr lang="en-US" altLang="en-US" sz="2400" i="1" dirty="0">
                <a:solidFill>
                  <a:schemeClr val="tx1"/>
                </a:solidFill>
                <a:latin typeface="Times New Roman" panose="02020603050405020304" pitchFamily="18" charset="0"/>
                <a:cs typeface="Times New Roman" panose="02020603050405020304" pitchFamily="18" charset="0"/>
              </a:rPr>
              <a:t>Flood Safety and Data Resources.</a:t>
            </a:r>
            <a:r>
              <a:rPr lang="en-US" altLang="en-US" sz="2400" dirty="0">
                <a:solidFill>
                  <a:schemeClr val="tx1"/>
                </a:solidFill>
                <a:latin typeface="Times New Roman" panose="02020603050405020304" pitchFamily="18" charset="0"/>
                <a:cs typeface="Times New Roman" panose="02020603050405020304" pitchFamily="18" charset="0"/>
              </a:rPr>
              <a:t> Retrieved from </a:t>
            </a:r>
            <a:r>
              <a:rPr lang="en-US" altLang="en-US" sz="2400" dirty="0">
                <a:solidFill>
                  <a:schemeClr val="tx1"/>
                </a:solidFill>
                <a:latin typeface="Times New Roman" panose="02020603050405020304" pitchFamily="18" charset="0"/>
                <a:cs typeface="Times New Roman" panose="02020603050405020304" pitchFamily="18" charset="0"/>
                <a:hlinkClick r:id="rId4"/>
              </a:rPr>
              <a:t>https://www.weather.gov/safety/flood</a:t>
            </a:r>
            <a:r>
              <a:rPr lang="en-US" altLang="en-US" sz="2400" dirty="0">
                <a:solidFill>
                  <a:schemeClr val="tx1"/>
                </a:solidFill>
                <a:latin typeface="Times New Roman" panose="02020603050405020304" pitchFamily="18" charset="0"/>
                <a:cs typeface="Times New Roman" panose="02020603050405020304" pitchFamily="18" charset="0"/>
              </a:rPr>
              <a:t> </a:t>
            </a:r>
          </a:p>
          <a:p>
            <a:pPr marL="457200" lvl="0" indent="-457200" eaLnBrk="0" fontAlgn="base" hangingPunct="0">
              <a:spcBef>
                <a:spcPct val="0"/>
              </a:spcBef>
              <a:spcAft>
                <a:spcPct val="0"/>
              </a:spcAft>
              <a:buClr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City of Miami Office of Resilience.</a:t>
            </a:r>
            <a:r>
              <a:rPr lang="en-US" altLang="en-US" sz="2400" dirty="0">
                <a:solidFill>
                  <a:schemeClr val="tx1"/>
                </a:solidFill>
                <a:latin typeface="Times New Roman" panose="02020603050405020304" pitchFamily="18" charset="0"/>
                <a:cs typeface="Times New Roman" panose="02020603050405020304" pitchFamily="18" charset="0"/>
              </a:rPr>
              <a:t> (2023). </a:t>
            </a:r>
            <a:r>
              <a:rPr lang="en-US" altLang="en-US" sz="2400" i="1" dirty="0">
                <a:solidFill>
                  <a:schemeClr val="tx1"/>
                </a:solidFill>
                <a:latin typeface="Times New Roman" panose="02020603050405020304" pitchFamily="18" charset="0"/>
                <a:cs typeface="Times New Roman" panose="02020603050405020304" pitchFamily="18" charset="0"/>
              </a:rPr>
              <a:t>Miami Forever Climate Ready Strategy.</a:t>
            </a:r>
            <a:r>
              <a:rPr lang="en-US" altLang="en-US" sz="2400" dirty="0">
                <a:solidFill>
                  <a:schemeClr val="tx1"/>
                </a:solidFill>
                <a:latin typeface="Times New Roman" panose="02020603050405020304" pitchFamily="18" charset="0"/>
                <a:cs typeface="Times New Roman" panose="02020603050405020304" pitchFamily="18" charset="0"/>
              </a:rPr>
              <a:t> Retrieved from </a:t>
            </a:r>
            <a:r>
              <a:rPr lang="en-US" altLang="en-US" sz="2400" dirty="0">
                <a:solidFill>
                  <a:schemeClr val="tx1"/>
                </a:solidFill>
                <a:latin typeface="Times New Roman" panose="02020603050405020304" pitchFamily="18" charset="0"/>
                <a:cs typeface="Times New Roman" panose="02020603050405020304" pitchFamily="18" charset="0"/>
                <a:hlinkClick r:id="rId5"/>
              </a:rPr>
              <a:t>https://www.miamigov.com/ClimateReady</a:t>
            </a:r>
            <a:r>
              <a:rPr lang="en-US" altLang="en-US" sz="2400" dirty="0">
                <a:solidFill>
                  <a:schemeClr val="tx1"/>
                </a:solidFill>
                <a:latin typeface="Times New Roman" panose="02020603050405020304" pitchFamily="18" charset="0"/>
                <a:cs typeface="Times New Roman" panose="02020603050405020304" pitchFamily="18" charset="0"/>
              </a:rPr>
              <a:t> </a:t>
            </a:r>
          </a:p>
          <a:p>
            <a:pPr marL="457200" lvl="0" indent="-457200" eaLnBrk="0" fontAlgn="base" hangingPunct="0">
              <a:spcBef>
                <a:spcPct val="0"/>
              </a:spcBef>
              <a:spcAft>
                <a:spcPct val="0"/>
              </a:spcAft>
              <a:buClr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U.S. Geological Survey (USGS).</a:t>
            </a:r>
            <a:r>
              <a:rPr lang="en-US" altLang="en-US" sz="2400" dirty="0">
                <a:solidFill>
                  <a:schemeClr val="tx1"/>
                </a:solidFill>
                <a:latin typeface="Times New Roman" panose="02020603050405020304" pitchFamily="18" charset="0"/>
                <a:cs typeface="Times New Roman" panose="02020603050405020304" pitchFamily="18" charset="0"/>
              </a:rPr>
              <a:t> (2024). </a:t>
            </a:r>
            <a:r>
              <a:rPr lang="en-US" altLang="en-US" sz="2400" i="1" dirty="0">
                <a:solidFill>
                  <a:schemeClr val="tx1"/>
                </a:solidFill>
                <a:latin typeface="Times New Roman" panose="02020603050405020304" pitchFamily="18" charset="0"/>
                <a:cs typeface="Times New Roman" panose="02020603050405020304" pitchFamily="18" charset="0"/>
              </a:rPr>
              <a:t>Water Data for the Nation.</a:t>
            </a:r>
            <a:r>
              <a:rPr lang="en-US" altLang="en-US" sz="2400" dirty="0">
                <a:solidFill>
                  <a:schemeClr val="tx1"/>
                </a:solidFill>
                <a:latin typeface="Times New Roman" panose="02020603050405020304" pitchFamily="18" charset="0"/>
                <a:cs typeface="Times New Roman" panose="02020603050405020304" pitchFamily="18" charset="0"/>
              </a:rPr>
              <a:t> Retrieved from </a:t>
            </a:r>
            <a:r>
              <a:rPr lang="en-US" altLang="en-US" sz="2400" dirty="0">
                <a:solidFill>
                  <a:schemeClr val="tx1"/>
                </a:solidFill>
                <a:latin typeface="Times New Roman" panose="02020603050405020304" pitchFamily="18" charset="0"/>
                <a:cs typeface="Times New Roman" panose="02020603050405020304" pitchFamily="18" charset="0"/>
                <a:hlinkClick r:id="rId6"/>
              </a:rPr>
              <a:t>https://waterdata.usgs.gov/nwis</a:t>
            </a:r>
            <a:r>
              <a:rPr lang="en-US" altLang="en-US" sz="2400" dirty="0">
                <a:solidFill>
                  <a:schemeClr val="tx1"/>
                </a:solidFill>
                <a:latin typeface="Times New Roman" panose="02020603050405020304" pitchFamily="18" charset="0"/>
                <a:cs typeface="Times New Roman" panose="02020603050405020304" pitchFamily="18" charset="0"/>
              </a:rPr>
              <a:t> </a:t>
            </a:r>
          </a:p>
          <a:p>
            <a:pPr marL="457200" lvl="0" indent="-457200" eaLnBrk="0" fontAlgn="base" hangingPunct="0">
              <a:spcBef>
                <a:spcPct val="0"/>
              </a:spcBef>
              <a:spcAft>
                <a:spcPct val="0"/>
              </a:spcAft>
              <a:buClr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Miami-Dade County Office of Resilience.</a:t>
            </a:r>
            <a:r>
              <a:rPr lang="en-US" altLang="en-US" sz="2400" dirty="0">
                <a:solidFill>
                  <a:schemeClr val="tx1"/>
                </a:solidFill>
                <a:latin typeface="Times New Roman" panose="02020603050405020304" pitchFamily="18" charset="0"/>
                <a:cs typeface="Times New Roman" panose="02020603050405020304" pitchFamily="18" charset="0"/>
              </a:rPr>
              <a:t> (2023). </a:t>
            </a:r>
            <a:r>
              <a:rPr lang="en-US" altLang="en-US" sz="2400" i="1" dirty="0">
                <a:solidFill>
                  <a:schemeClr val="tx1"/>
                </a:solidFill>
                <a:latin typeface="Times New Roman" panose="02020603050405020304" pitchFamily="18" charset="0"/>
                <a:cs typeface="Times New Roman" panose="02020603050405020304" pitchFamily="18" charset="0"/>
              </a:rPr>
              <a:t>Resilient305 Strategy.</a:t>
            </a:r>
            <a:r>
              <a:rPr lang="en-US" altLang="en-US" sz="2400" dirty="0">
                <a:solidFill>
                  <a:schemeClr val="tx1"/>
                </a:solidFill>
                <a:latin typeface="Times New Roman" panose="02020603050405020304" pitchFamily="18" charset="0"/>
                <a:cs typeface="Times New Roman" panose="02020603050405020304" pitchFamily="18" charset="0"/>
              </a:rPr>
              <a:t> Retrieved from </a:t>
            </a:r>
            <a:r>
              <a:rPr lang="en-US" altLang="en-US" sz="2400" dirty="0">
                <a:solidFill>
                  <a:schemeClr val="tx1"/>
                </a:solidFill>
                <a:latin typeface="Times New Roman" panose="02020603050405020304" pitchFamily="18" charset="0"/>
                <a:cs typeface="Times New Roman" panose="02020603050405020304" pitchFamily="18" charset="0"/>
                <a:hlinkClick r:id="rId7"/>
              </a:rPr>
              <a:t>https://resilient305.com/</a:t>
            </a:r>
            <a:r>
              <a:rPr lang="en-US" altLang="en-US" sz="2400" dirty="0">
                <a:solidFill>
                  <a:schemeClr val="tx1"/>
                </a:solidFill>
                <a:latin typeface="Times New Roman" panose="02020603050405020304" pitchFamily="18" charset="0"/>
                <a:cs typeface="Times New Roman" panose="02020603050405020304" pitchFamily="18" charset="0"/>
              </a:rPr>
              <a:t> </a:t>
            </a:r>
          </a:p>
          <a:p>
            <a:pPr marL="457200" lvl="0" indent="-457200" eaLnBrk="0" fontAlgn="base" hangingPunct="0">
              <a:spcBef>
                <a:spcPct val="0"/>
              </a:spcBef>
              <a:spcAft>
                <a:spcPct val="0"/>
              </a:spcAft>
              <a:buClrTx/>
              <a:buFont typeface="+mj-lt"/>
              <a:buAutoNum type="arabicPeriod"/>
            </a:pPr>
            <a:r>
              <a:rPr lang="en-US" altLang="en-US" sz="2400" b="1" dirty="0">
                <a:solidFill>
                  <a:schemeClr val="tx1"/>
                </a:solidFill>
                <a:latin typeface="Times New Roman" panose="02020603050405020304" pitchFamily="18" charset="0"/>
                <a:cs typeface="Times New Roman" panose="02020603050405020304" pitchFamily="18" charset="0"/>
              </a:rPr>
              <a:t>Florida International University (FIU) Extreme Events Institute.</a:t>
            </a:r>
            <a:r>
              <a:rPr lang="en-US" altLang="en-US" sz="2400" dirty="0">
                <a:solidFill>
                  <a:schemeClr val="tx1"/>
                </a:solidFill>
                <a:latin typeface="Times New Roman" panose="02020603050405020304" pitchFamily="18" charset="0"/>
                <a:cs typeface="Times New Roman" panose="02020603050405020304" pitchFamily="18" charset="0"/>
              </a:rPr>
              <a:t> (2023). </a:t>
            </a:r>
            <a:r>
              <a:rPr lang="en-US" altLang="en-US" sz="2400" i="1" dirty="0">
                <a:solidFill>
                  <a:schemeClr val="tx1"/>
                </a:solidFill>
                <a:latin typeface="Times New Roman" panose="02020603050405020304" pitchFamily="18" charset="0"/>
                <a:cs typeface="Times New Roman" panose="02020603050405020304" pitchFamily="18" charset="0"/>
              </a:rPr>
              <a:t>Flood and Hurricane Risk Research.</a:t>
            </a:r>
            <a:r>
              <a:rPr lang="en-US" altLang="en-US" sz="2400" dirty="0">
                <a:solidFill>
                  <a:schemeClr val="tx1"/>
                </a:solidFill>
                <a:latin typeface="Times New Roman" panose="02020603050405020304" pitchFamily="18" charset="0"/>
                <a:cs typeface="Times New Roman" panose="02020603050405020304" pitchFamily="18" charset="0"/>
              </a:rPr>
              <a:t> Retrieved from </a:t>
            </a:r>
            <a:r>
              <a:rPr lang="en-US" altLang="en-US" sz="2400" dirty="0">
                <a:solidFill>
                  <a:schemeClr val="tx1"/>
                </a:solidFill>
                <a:latin typeface="Times New Roman" panose="02020603050405020304" pitchFamily="18" charset="0"/>
                <a:cs typeface="Times New Roman" panose="02020603050405020304" pitchFamily="18" charset="0"/>
                <a:hlinkClick r:id="rId8"/>
              </a:rPr>
              <a:t>https://eei.fiu.edu/</a:t>
            </a:r>
            <a:r>
              <a:rPr lang="en-US" altLang="en-US" sz="2400" dirty="0">
                <a:solidFill>
                  <a:schemeClr val="tx1"/>
                </a:solidFill>
                <a:latin typeface="Times New Roman" panose="02020603050405020304" pitchFamily="18" charset="0"/>
                <a:cs typeface="Times New Roman" panose="02020603050405020304" pitchFamily="18" charset="0"/>
              </a:rPr>
              <a:t> </a:t>
            </a:r>
          </a:p>
        </p:txBody>
      </p:sp>
      <p:pic>
        <p:nvPicPr>
          <p:cNvPr id="3" name="Picture 2" descr="A logo with a wave and a graphic design&#10;&#10;AI-generated content may be incorrect.">
            <a:extLst>
              <a:ext uri="{FF2B5EF4-FFF2-40B4-BE49-F238E27FC236}">
                <a16:creationId xmlns:a16="http://schemas.microsoft.com/office/drawing/2014/main" id="{A6BBB3FB-65C7-0D75-3DDE-4A1EBAD245B1}"/>
              </a:ext>
            </a:extLst>
          </p:cNvPr>
          <p:cNvPicPr>
            <a:picLocks noChangeAspect="1"/>
          </p:cNvPicPr>
          <p:nvPr/>
        </p:nvPicPr>
        <p:blipFill>
          <a:blip r:embed="rId9"/>
          <a:stretch>
            <a:fillRect/>
          </a:stretch>
        </p:blipFill>
        <p:spPr>
          <a:xfrm>
            <a:off x="8745166" y="4736432"/>
            <a:ext cx="2969480" cy="19796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05"/>
                                        </p:tgtEl>
                                        <p:attrNameLst>
                                          <p:attrName>style.visibility</p:attrName>
                                        </p:attrNameLst>
                                      </p:cBhvr>
                                      <p:to>
                                        <p:strVal val="visible"/>
                                      </p:to>
                                    </p:set>
                                    <p:animEffect transition="in" filter="fade">
                                      <p:cBhvr>
                                        <p:cTn id="7" dur="500"/>
                                        <p:tgtEl>
                                          <p:spTgt spid="60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6"/>
                                        </p:tgtEl>
                                        <p:attrNameLst>
                                          <p:attrName>style.visibility</p:attrName>
                                        </p:attrNameLst>
                                      </p:cBhvr>
                                      <p:to>
                                        <p:strVal val="visible"/>
                                      </p:to>
                                    </p:set>
                                    <p:animEffect transition="in" filter="fade">
                                      <p:cBhvr>
                                        <p:cTn id="12" dur="1000"/>
                                        <p:tgtEl>
                                          <p:spTgt spid="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24"/>
          <p:cNvSpPr/>
          <p:nvPr/>
        </p:nvSpPr>
        <p:spPr>
          <a:xfrm>
            <a:off x="0" y="-6350"/>
            <a:ext cx="12192000" cy="806450"/>
          </a:xfrm>
          <a:prstGeom prst="rect">
            <a:avLst/>
          </a:prstGeom>
          <a:solidFill>
            <a:srgbClr val="081E3F"/>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100" b="1" cap="none">
                <a:solidFill>
                  <a:srgbClr val="FFFFFF"/>
                </a:solidFill>
                <a:latin typeface="Cambria"/>
                <a:ea typeface="Cambria"/>
                <a:cs typeface="Cambria"/>
                <a:sym typeface="Cambria"/>
              </a:rPr>
              <a:t>     </a:t>
            </a:r>
            <a:endParaRPr sz="1100">
              <a:solidFill>
                <a:schemeClr val="lt1"/>
              </a:solidFill>
              <a:latin typeface="Cambria"/>
              <a:ea typeface="Cambria"/>
              <a:cs typeface="Cambria"/>
              <a:sym typeface="Cambria"/>
            </a:endParaRPr>
          </a:p>
        </p:txBody>
      </p:sp>
      <p:cxnSp>
        <p:nvCxnSpPr>
          <p:cNvPr id="612" name="Google Shape;612;p24"/>
          <p:cNvCxnSpPr/>
          <p:nvPr/>
        </p:nvCxnSpPr>
        <p:spPr>
          <a:xfrm>
            <a:off x="-1" y="6830621"/>
            <a:ext cx="12192000" cy="0"/>
          </a:xfrm>
          <a:prstGeom prst="straightConnector1">
            <a:avLst/>
          </a:prstGeom>
          <a:noFill/>
          <a:ln w="76200" cap="flat" cmpd="sng">
            <a:solidFill>
              <a:srgbClr val="000066"/>
            </a:solidFill>
            <a:prstDash val="solid"/>
            <a:miter lim="800000"/>
            <a:headEnd type="none" w="sm" len="sm"/>
            <a:tailEnd type="none" w="sm" len="sm"/>
          </a:ln>
        </p:spPr>
      </p:cxnSp>
      <p:sp>
        <p:nvSpPr>
          <p:cNvPr id="613" name="Google Shape;613;p24"/>
          <p:cNvSpPr txBox="1"/>
          <p:nvPr/>
        </p:nvSpPr>
        <p:spPr>
          <a:xfrm>
            <a:off x="11749177" y="6442649"/>
            <a:ext cx="4428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24</a:t>
            </a:r>
            <a:endParaRPr/>
          </a:p>
        </p:txBody>
      </p:sp>
      <p:pic>
        <p:nvPicPr>
          <p:cNvPr id="614" name="Google Shape;614;p24" descr="A white and gold logo&#10;&#10;AI-generated content may be incorrect."/>
          <p:cNvPicPr preferRelativeResize="0"/>
          <p:nvPr/>
        </p:nvPicPr>
        <p:blipFill rotWithShape="1">
          <a:blip r:embed="rId3">
            <a:alphaModFix/>
          </a:blip>
          <a:srcRect/>
          <a:stretch/>
        </p:blipFill>
        <p:spPr>
          <a:xfrm>
            <a:off x="10789143" y="-6350"/>
            <a:ext cx="1226474" cy="1226474"/>
          </a:xfrm>
          <a:prstGeom prst="rect">
            <a:avLst/>
          </a:prstGeom>
          <a:noFill/>
          <a:ln>
            <a:noFill/>
          </a:ln>
        </p:spPr>
      </p:pic>
      <p:sp>
        <p:nvSpPr>
          <p:cNvPr id="615" name="Google Shape;615;p24"/>
          <p:cNvSpPr txBox="1"/>
          <p:nvPr/>
        </p:nvSpPr>
        <p:spPr>
          <a:xfrm>
            <a:off x="115824" y="2478404"/>
            <a:ext cx="11960352" cy="1901191"/>
          </a:xfrm>
          <a:prstGeom prst="rect">
            <a:avLst/>
          </a:prstGeom>
          <a:noFill/>
          <a:ln>
            <a:noFill/>
          </a:ln>
        </p:spPr>
        <p:txBody>
          <a:bodyPr spcFirstLastPara="1" wrap="square" lIns="91425" tIns="45700" rIns="91425" bIns="45700" anchor="t" anchorCtr="0">
            <a:normAutofit fontScale="62500" lnSpcReduction="20000"/>
          </a:bodyPr>
          <a:lstStyle/>
          <a:p>
            <a:pPr marL="0" marR="0" lvl="0" indent="0" algn="ctr" rtl="0">
              <a:lnSpc>
                <a:spcPct val="90000"/>
              </a:lnSpc>
              <a:spcBef>
                <a:spcPts val="0"/>
              </a:spcBef>
              <a:spcAft>
                <a:spcPts val="0"/>
              </a:spcAft>
              <a:buClr>
                <a:schemeClr val="dk1"/>
              </a:buClr>
              <a:buSzPct val="100000"/>
              <a:buFont typeface="Arial"/>
              <a:buNone/>
            </a:pPr>
            <a:r>
              <a:rPr lang="en-US" sz="12000" dirty="0">
                <a:solidFill>
                  <a:schemeClr val="dk1"/>
                </a:solidFill>
                <a:latin typeface="Times New Roman" panose="02020603050405020304" pitchFamily="18" charset="0"/>
                <a:cs typeface="Times New Roman" panose="02020603050405020304" pitchFamily="18" charset="0"/>
                <a:sym typeface="Arial"/>
              </a:rPr>
              <a:t>Thanks</a:t>
            </a:r>
            <a:endParaRPr dirty="0">
              <a:latin typeface="Times New Roman" panose="02020603050405020304" pitchFamily="18" charset="0"/>
              <a:cs typeface="Times New Roman" panose="02020603050405020304" pitchFamily="18" charset="0"/>
            </a:endParaRPr>
          </a:p>
          <a:p>
            <a:pPr marL="0" marR="0" lvl="0" indent="0" algn="ctr" rtl="0">
              <a:lnSpc>
                <a:spcPct val="90000"/>
              </a:lnSpc>
              <a:spcBef>
                <a:spcPts val="1000"/>
              </a:spcBef>
              <a:spcAft>
                <a:spcPts val="0"/>
              </a:spcAft>
              <a:buClr>
                <a:schemeClr val="dk1"/>
              </a:buClr>
              <a:buSzPct val="100000"/>
              <a:buFont typeface="Arial"/>
              <a:buNone/>
            </a:pPr>
            <a:r>
              <a:rPr lang="en-US" sz="12000" dirty="0">
                <a:solidFill>
                  <a:schemeClr val="dk1"/>
                </a:solidFill>
                <a:latin typeface="Times New Roman" panose="02020603050405020304" pitchFamily="18" charset="0"/>
                <a:cs typeface="Times New Roman" panose="02020603050405020304" pitchFamily="18" charset="0"/>
                <a:sym typeface="Arial"/>
              </a:rPr>
              <a:t>Questions or Comments?</a:t>
            </a:r>
            <a:endParaRPr sz="12000" dirty="0">
              <a:solidFill>
                <a:schemeClr val="dk1"/>
              </a:solidFill>
              <a:latin typeface="Times New Roman" panose="02020603050405020304" pitchFamily="18" charset="0"/>
              <a:cs typeface="Times New Roman" panose="02020603050405020304" pitchFamily="18" charset="0"/>
              <a:sym typeface="Arial"/>
            </a:endParaRPr>
          </a:p>
        </p:txBody>
      </p:sp>
      <p:pic>
        <p:nvPicPr>
          <p:cNvPr id="2" name="Picture 1" descr="A logo with a wave and a graphic design&#10;&#10;AI-generated content may be incorrect.">
            <a:extLst>
              <a:ext uri="{FF2B5EF4-FFF2-40B4-BE49-F238E27FC236}">
                <a16:creationId xmlns:a16="http://schemas.microsoft.com/office/drawing/2014/main" id="{01C555EF-CBB7-0917-45FF-5C8F40036EBC}"/>
              </a:ext>
            </a:extLst>
          </p:cNvPr>
          <p:cNvPicPr>
            <a:picLocks noChangeAspect="1"/>
          </p:cNvPicPr>
          <p:nvPr/>
        </p:nvPicPr>
        <p:blipFill>
          <a:blip r:embed="rId4"/>
          <a:stretch>
            <a:fillRect/>
          </a:stretch>
        </p:blipFill>
        <p:spPr>
          <a:xfrm>
            <a:off x="176742" y="4330625"/>
            <a:ext cx="3597590" cy="23983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14"/>
                                        </p:tgtEl>
                                        <p:attrNameLst>
                                          <p:attrName>style.visibility</p:attrName>
                                        </p:attrNameLst>
                                      </p:cBhvr>
                                      <p:to>
                                        <p:strVal val="visible"/>
                                      </p:to>
                                    </p:set>
                                    <p:animEffect transition="in" filter="fade">
                                      <p:cBhvr>
                                        <p:cTn id="7" dur="500"/>
                                        <p:tgtEl>
                                          <p:spTgt spid="6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5">
                                            <p:txEl>
                                              <p:pRg st="0" end="0"/>
                                            </p:txEl>
                                          </p:spTgt>
                                        </p:tgtEl>
                                        <p:attrNameLst>
                                          <p:attrName>style.visibility</p:attrName>
                                        </p:attrNameLst>
                                      </p:cBhvr>
                                      <p:to>
                                        <p:strVal val="visible"/>
                                      </p:to>
                                    </p:set>
                                    <p:animEffect transition="in" filter="fade">
                                      <p:cBhvr>
                                        <p:cTn id="12" dur="500"/>
                                        <p:tgtEl>
                                          <p:spTgt spid="6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5">
                                            <p:txEl>
                                              <p:pRg st="1" end="1"/>
                                            </p:txEl>
                                          </p:spTgt>
                                        </p:tgtEl>
                                        <p:attrNameLst>
                                          <p:attrName>style.visibility</p:attrName>
                                        </p:attrNameLst>
                                      </p:cBhvr>
                                      <p:to>
                                        <p:strVal val="visible"/>
                                      </p:to>
                                    </p:set>
                                    <p:animEffect transition="in" filter="fade">
                                      <p:cBhvr>
                                        <p:cTn id="17" dur="500"/>
                                        <p:tgtEl>
                                          <p:spTgt spid="6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1651</Words>
  <Application>Microsoft Office PowerPoint</Application>
  <PresentationFormat>Widescreen</PresentationFormat>
  <Paragraphs>191</Paragraphs>
  <Slides>17</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Cambria</vt:lpstr>
      <vt:lpstr>Noto Sans Symbols</vt:lpstr>
      <vt:lpstr>Times New Roman</vt:lpstr>
      <vt:lpstr>Wingdings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Omar Nofal</dc:creator>
  <cp:lastModifiedBy>Mostafa Sameer</cp:lastModifiedBy>
  <cp:revision>4</cp:revision>
  <dcterms:created xsi:type="dcterms:W3CDTF">2024-04-15T00:57:02Z</dcterms:created>
  <dcterms:modified xsi:type="dcterms:W3CDTF">2025-10-18T16:19:26Z</dcterms:modified>
</cp:coreProperties>
</file>